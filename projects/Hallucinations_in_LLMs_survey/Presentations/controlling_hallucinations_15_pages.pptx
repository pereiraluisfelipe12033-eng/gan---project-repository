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2B0CB04-DCA1-4061-ADE0-7B0F08CCC7A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E8E460-31EB-41E8-965E-8B31B621C85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554A35-F2B3-4F93-9049-3DD5AC61264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D5AF11-982A-44B1-AF5A-761DB1212EE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B08BF2-2002-4CCA-82DE-506E8280F35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6D8494-2534-4779-B505-5845E23B97F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7968C3-9DA4-4CED-A714-25112722701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D5C282-8B8C-4213-A180-23A899B4E8A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264375-9081-40DD-B7A6-E11424C44D1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6A72A8E-632A-477A-BCBB-4A199A776C1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10E738-2B41-4DD3-8E44-AB9774F4B06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686779-8CD3-4D6B-9B90-BB13B9DB785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F79A39-1BAA-48F5-82F2-EE3DFF9FC44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1866EC-0EBC-4890-BF7A-8EB19C6AC21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004D62-A0E0-4EDC-BCAC-DEF439F7F14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661A03-3766-4F45-98AB-54954D219E8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31E0684-A84D-436A-9FCF-1760060DE97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02920" y="3246120"/>
            <a:ext cx="2010960" cy="328320"/>
          </a:xfrm>
          <a:prstGeom prst="roundRect">
            <a:avLst>
              <a:gd name="adj" fmla="val 33333"/>
            </a:avLst>
          </a:prstGeom>
          <a:solidFill>
            <a:srgbClr val="534ab7"/>
          </a:solidFill>
          <a:ln w="12700">
            <a:solidFill>
              <a:srgbClr val="534ab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02920" y="3264480"/>
            <a:ext cx="2010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Hot topic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502920" y="3675960"/>
            <a:ext cx="2010960" cy="32832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02920" y="3694320"/>
            <a:ext cx="2010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NLP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502920" y="4105800"/>
            <a:ext cx="2010960" cy="32832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02920" y="4123800"/>
            <a:ext cx="2010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Reliability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2880360" y="1051560"/>
            <a:ext cx="539424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Controlling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Hallucinations in LLMs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2880360" y="2395800"/>
            <a:ext cx="5119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a6b9a"/>
                </a:solidFill>
                <a:latin typeface="Aptos"/>
              </a:rPr>
              <a:t>A concise, evidence-based overview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2880360" y="2816280"/>
            <a:ext cx="5119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3a6b9a"/>
                </a:solidFill>
                <a:latin typeface="Aptos"/>
              </a:rPr>
              <a:t>IA 376 – Generative Artificial Intelligence · UNICAMP 2026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2880360" y="3218760"/>
            <a:ext cx="53028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Aptos"/>
              </a:rPr>
              <a:t>Charles Cavalcante Alcarde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Aptos"/>
              </a:rPr>
              <a:t>Luis Felipe da Silva Carlos Pereira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Aptos"/>
              </a:rPr>
              <a:t>Pedro Henrique Guerra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384120" y="4690800"/>
            <a:ext cx="75888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8229600" y="4663440"/>
            <a:ext cx="365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576000" y="255960"/>
            <a:ext cx="7954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Why hallucination matters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576000" y="658440"/>
            <a:ext cx="8046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Reliable deployment fails when fluent output is not trustworthy.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2"/>
          <p:cNvSpPr/>
          <p:nvPr/>
        </p:nvSpPr>
        <p:spPr>
          <a:xfrm>
            <a:off x="576000" y="1024200"/>
            <a:ext cx="8000280" cy="639360"/>
          </a:xfrm>
          <a:prstGeom prst="roundRect">
            <a:avLst>
              <a:gd name="adj" fmla="val 11429"/>
            </a:avLst>
          </a:prstGeom>
          <a:solidFill>
            <a:srgbClr val="f0f4f8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731520" y="1188720"/>
            <a:ext cx="7680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d1b2a"/>
                </a:solidFill>
                <a:latin typeface="Aptos"/>
              </a:rPr>
              <a:t>Hallucination is output that sounds plausible and coherent, but is factually wrong, unsupported, or logically inconsistent.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4"/>
          <p:cNvSpPr/>
          <p:nvPr/>
        </p:nvSpPr>
        <p:spPr>
          <a:xfrm>
            <a:off x="554760" y="1828800"/>
            <a:ext cx="2036880" cy="1945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731520" y="1993320"/>
            <a:ext cx="1645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3a5f"/>
                </a:solidFill>
                <a:latin typeface="Aptos"/>
              </a:rPr>
              <a:t>High-stakes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3a5f"/>
                </a:solidFill>
                <a:latin typeface="Aptos"/>
              </a:rPr>
              <a:t>applications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900360" y="2630880"/>
            <a:ext cx="12794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1b2a"/>
                </a:solidFill>
                <a:latin typeface="Aptos"/>
              </a:rPr>
              <a:t>Healthcare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1b2a"/>
                </a:solidFill>
                <a:latin typeface="Aptos"/>
              </a:rPr>
              <a:t>Law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1b2a"/>
                </a:solidFill>
                <a:latin typeface="Aptos"/>
              </a:rPr>
              <a:t>Science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1b2a"/>
                </a:solidFill>
                <a:latin typeface="Aptos"/>
              </a:rPr>
              <a:t>Education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2761560" y="1828800"/>
            <a:ext cx="2913840" cy="19382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8"/>
          <p:cNvSpPr/>
          <p:nvPr/>
        </p:nvSpPr>
        <p:spPr>
          <a:xfrm>
            <a:off x="2999160" y="1974960"/>
            <a:ext cx="2285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3a5f"/>
                </a:solidFill>
                <a:latin typeface="Aptos"/>
              </a:rPr>
              <a:t>Why it persists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2907720" y="2267640"/>
            <a:ext cx="2513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0d1b2a"/>
                </a:solidFill>
                <a:latin typeface="Aptos"/>
                <a:ea typeface="Aptos"/>
              </a:rPr>
              <a:t>next-token prediction optimizes plausibility, not truth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0d1b2a"/>
                </a:solidFill>
                <a:latin typeface="Aptos"/>
                <a:ea typeface="Aptos"/>
              </a:rPr>
              <a:t>training data are noisy, incomplete, and time-bounded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0d1b2a"/>
                </a:solidFill>
                <a:latin typeface="Aptos"/>
                <a:ea typeface="Aptos"/>
              </a:rPr>
              <a:t>alignment can increase confidence without guaranteeing accuracy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5747040" y="1828800"/>
            <a:ext cx="2838600" cy="1923840"/>
          </a:xfrm>
          <a:prstGeom prst="roundRect">
            <a:avLst>
              <a:gd name="adj" fmla="val 6154"/>
            </a:avLst>
          </a:prstGeom>
          <a:solidFill>
            <a:srgbClr val="fff8e8"/>
          </a:solidFill>
          <a:ln w="127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6016680" y="1974960"/>
            <a:ext cx="2285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3a5f"/>
                </a:solidFill>
                <a:latin typeface="Aptos"/>
              </a:rPr>
              <a:t>Working example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5998320" y="2421360"/>
            <a:ext cx="2331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1b2a"/>
                </a:solidFill>
                <a:latin typeface="Aptos"/>
              </a:rPr>
              <a:t>Prompt: “Who wrote Pride and Prejudice?”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1b2a"/>
                </a:solidFill>
                <a:latin typeface="Aptos"/>
              </a:rPr>
              <a:t>Hallucinated answer: “Charles Dickens.”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6166440" y="3116520"/>
            <a:ext cx="20109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6e56"/>
                </a:solidFill>
                <a:latin typeface="Aptos"/>
              </a:rPr>
              <a:t>Correct answer: Jane Austen.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4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5"/>
          <p:cNvSpPr/>
          <p:nvPr/>
        </p:nvSpPr>
        <p:spPr>
          <a:xfrm>
            <a:off x="384120" y="4690800"/>
            <a:ext cx="75888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6"/>
          <p:cNvSpPr/>
          <p:nvPr/>
        </p:nvSpPr>
        <p:spPr>
          <a:xfrm>
            <a:off x="8229600" y="4663440"/>
            <a:ext cx="365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576000" y="255960"/>
            <a:ext cx="7954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Core taxonomy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576000" y="658440"/>
            <a:ext cx="8046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Two distinctions are especially useful for understanding what failed.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685800" y="1051560"/>
            <a:ext cx="32911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a6b9a"/>
                </a:solidFill>
                <a:latin typeface="Aptos"/>
              </a:rPr>
              <a:t>Relation to source or context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3"/>
          <p:cNvSpPr/>
          <p:nvPr/>
        </p:nvSpPr>
        <p:spPr>
          <a:xfrm>
            <a:off x="576000" y="1280160"/>
            <a:ext cx="3748320" cy="12337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4"/>
          <p:cNvSpPr/>
          <p:nvPr/>
        </p:nvSpPr>
        <p:spPr>
          <a:xfrm>
            <a:off x="777240" y="1362600"/>
            <a:ext cx="1233720" cy="255240"/>
          </a:xfrm>
          <a:prstGeom prst="roundRect">
            <a:avLst>
              <a:gd name="adj" fmla="val 33333"/>
            </a:avLst>
          </a:prstGeom>
          <a:solidFill>
            <a:srgbClr val="3a6b9a"/>
          </a:solidFill>
          <a:ln w="12700">
            <a:solidFill>
              <a:srgbClr val="3a6b9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777240" y="1362600"/>
            <a:ext cx="1233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Intrinsic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804600" y="1904040"/>
            <a:ext cx="3245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d1b2a"/>
                </a:solidFill>
                <a:latin typeface="Aptos"/>
              </a:rPr>
              <a:t>The output contradicts the provided source or input context. Typical in summarization, grounded QA, or translation.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7"/>
          <p:cNvSpPr/>
          <p:nvPr/>
        </p:nvSpPr>
        <p:spPr>
          <a:xfrm>
            <a:off x="576000" y="2697480"/>
            <a:ext cx="3748320" cy="12337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8"/>
          <p:cNvSpPr/>
          <p:nvPr/>
        </p:nvSpPr>
        <p:spPr>
          <a:xfrm>
            <a:off x="777240" y="2834640"/>
            <a:ext cx="1233720" cy="328320"/>
          </a:xfrm>
          <a:prstGeom prst="roundRect">
            <a:avLst>
              <a:gd name="adj" fmla="val 33333"/>
            </a:avLst>
          </a:prstGeom>
          <a:solidFill>
            <a:srgbClr val="534ab7"/>
          </a:solidFill>
          <a:ln w="12700">
            <a:solidFill>
              <a:srgbClr val="534ab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9"/>
          <p:cNvSpPr/>
          <p:nvPr/>
        </p:nvSpPr>
        <p:spPr>
          <a:xfrm>
            <a:off x="777240" y="2853000"/>
            <a:ext cx="1233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Extrinsic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0"/>
          <p:cNvSpPr/>
          <p:nvPr/>
        </p:nvSpPr>
        <p:spPr>
          <a:xfrm>
            <a:off x="804600" y="3292920"/>
            <a:ext cx="3245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d1b2a"/>
                </a:solidFill>
                <a:latin typeface="Aptos"/>
              </a:rPr>
              <a:t>The output adds unsupported material not verifiable from the given context; it may even be true, but is ungrounded.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1"/>
          <p:cNvSpPr/>
          <p:nvPr/>
        </p:nvSpPr>
        <p:spPr>
          <a:xfrm>
            <a:off x="4572000" y="1051560"/>
            <a:ext cx="32911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a6b9a"/>
                </a:solidFill>
                <a:latin typeface="Aptos"/>
              </a:rPr>
              <a:t>Relation to truth and reasoning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2"/>
          <p:cNvSpPr/>
          <p:nvPr/>
        </p:nvSpPr>
        <p:spPr>
          <a:xfrm>
            <a:off x="4462200" y="1280160"/>
            <a:ext cx="3748320" cy="12337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13"/>
          <p:cNvSpPr/>
          <p:nvPr/>
        </p:nvSpPr>
        <p:spPr>
          <a:xfrm>
            <a:off x="4663440" y="1362600"/>
            <a:ext cx="1050840" cy="32832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4"/>
          <p:cNvSpPr/>
          <p:nvPr/>
        </p:nvSpPr>
        <p:spPr>
          <a:xfrm>
            <a:off x="4663440" y="1362600"/>
            <a:ext cx="1050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Factual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5"/>
          <p:cNvSpPr/>
          <p:nvPr/>
        </p:nvSpPr>
        <p:spPr>
          <a:xfrm>
            <a:off x="4700160" y="1792080"/>
            <a:ext cx="3199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d1b2a"/>
                </a:solidFill>
                <a:latin typeface="Aptos"/>
              </a:rPr>
              <a:t>Wrong dates, entities, citations, causal relations, or other claims about the world.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16"/>
          <p:cNvSpPr/>
          <p:nvPr/>
        </p:nvSpPr>
        <p:spPr>
          <a:xfrm>
            <a:off x="4462200" y="2697480"/>
            <a:ext cx="3748320" cy="12337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7"/>
          <p:cNvSpPr/>
          <p:nvPr/>
        </p:nvSpPr>
        <p:spPr>
          <a:xfrm>
            <a:off x="4663440" y="2834640"/>
            <a:ext cx="1645200" cy="32832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8"/>
          <p:cNvSpPr/>
          <p:nvPr/>
        </p:nvSpPr>
        <p:spPr>
          <a:xfrm>
            <a:off x="4663440" y="2853000"/>
            <a:ext cx="1645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Logical / faithfulness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4700160" y="3182040"/>
            <a:ext cx="3245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d1b2a"/>
                </a:solidFill>
                <a:latin typeface="Aptos"/>
              </a:rPr>
              <a:t>Reasoning breaks, self-contradiction, or failure to follow the source and instruction faithfully.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20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21"/>
          <p:cNvSpPr/>
          <p:nvPr/>
        </p:nvSpPr>
        <p:spPr>
          <a:xfrm>
            <a:off x="384120" y="4690800"/>
            <a:ext cx="75888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22"/>
          <p:cNvSpPr/>
          <p:nvPr/>
        </p:nvSpPr>
        <p:spPr>
          <a:xfrm>
            <a:off x="8229600" y="4663440"/>
            <a:ext cx="365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3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576000" y="255960"/>
            <a:ext cx="7954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Hallucination is not the same as factuality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576000" y="658440"/>
            <a:ext cx="8046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This distinction improves benchmark choice and mitigation strategy.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2"/>
          <p:cNvSpPr/>
          <p:nvPr/>
        </p:nvSpPr>
        <p:spPr>
          <a:xfrm>
            <a:off x="685800" y="1234440"/>
            <a:ext cx="3519720" cy="2010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1691640" y="1417320"/>
            <a:ext cx="1508040" cy="328320"/>
          </a:xfrm>
          <a:prstGeom prst="roundRect">
            <a:avLst>
              <a:gd name="adj" fmla="val 33333"/>
            </a:avLst>
          </a:prstGeom>
          <a:solidFill>
            <a:srgbClr val="534ab7"/>
          </a:solidFill>
          <a:ln w="12700">
            <a:solidFill>
              <a:srgbClr val="534ab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1691640" y="1435680"/>
            <a:ext cx="1508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Hallucination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960120" y="1828800"/>
            <a:ext cx="2971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defined against the model’s available source: input context or training-accessible knowledge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often mitigated by abstention, grounding, refusal when uncertain, and better context use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best discussed with intrinsic / extrinsic language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6"/>
          <p:cNvSpPr/>
          <p:nvPr/>
        </p:nvSpPr>
        <p:spPr>
          <a:xfrm>
            <a:off x="4572000" y="1234440"/>
            <a:ext cx="3519720" cy="2010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7"/>
          <p:cNvSpPr/>
          <p:nvPr/>
        </p:nvSpPr>
        <p:spPr>
          <a:xfrm>
            <a:off x="5623560" y="1417320"/>
            <a:ext cx="1416600" cy="32832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5623560" y="1435680"/>
            <a:ext cx="1416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Factuality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4846320" y="1828800"/>
            <a:ext cx="2971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defined against external truth or trusted verification sources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often improved with knowledge injection, retrieval, or updating stale information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benchmarks like TruthfulQA are better read as factuality tests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0"/>
          <p:cNvSpPr/>
          <p:nvPr/>
        </p:nvSpPr>
        <p:spPr>
          <a:xfrm>
            <a:off x="1188720" y="3520440"/>
            <a:ext cx="6674400" cy="566280"/>
          </a:xfrm>
          <a:prstGeom prst="roundRect">
            <a:avLst>
              <a:gd name="adj" fmla="val 12903"/>
            </a:avLst>
          </a:prstGeom>
          <a:solidFill>
            <a:srgbClr val="fff8e8"/>
          </a:solidFill>
          <a:ln w="127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1"/>
          <p:cNvSpPr/>
          <p:nvPr/>
        </p:nvSpPr>
        <p:spPr>
          <a:xfrm>
            <a:off x="1417320" y="3703320"/>
            <a:ext cx="6217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1b2a"/>
                </a:solidFill>
                <a:latin typeface="Aptos"/>
              </a:rPr>
              <a:t>Takeaway: a model can be factually wrong without fitting a narrow hallucination definition, and different failures need different interventions.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2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3"/>
          <p:cNvSpPr/>
          <p:nvPr/>
        </p:nvSpPr>
        <p:spPr>
          <a:xfrm>
            <a:off x="384120" y="4690800"/>
            <a:ext cx="75888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4"/>
          <p:cNvSpPr/>
          <p:nvPr/>
        </p:nvSpPr>
        <p:spPr>
          <a:xfrm>
            <a:off x="8229600" y="4663440"/>
            <a:ext cx="365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4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0"/>
          <p:cNvSpPr/>
          <p:nvPr/>
        </p:nvSpPr>
        <p:spPr>
          <a:xfrm>
            <a:off x="576000" y="255960"/>
            <a:ext cx="7954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Why hallucinations happen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"/>
          <p:cNvSpPr/>
          <p:nvPr/>
        </p:nvSpPr>
        <p:spPr>
          <a:xfrm>
            <a:off x="576000" y="658440"/>
            <a:ext cx="8046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The literature converges on interacting data, model, and usage-level causes.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"/>
          <p:cNvSpPr/>
          <p:nvPr/>
        </p:nvSpPr>
        <p:spPr>
          <a:xfrm>
            <a:off x="576000" y="1417320"/>
            <a:ext cx="2285280" cy="22395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3"/>
          <p:cNvSpPr/>
          <p:nvPr/>
        </p:nvSpPr>
        <p:spPr>
          <a:xfrm>
            <a:off x="1078920" y="1600200"/>
            <a:ext cx="1279440" cy="328320"/>
          </a:xfrm>
          <a:prstGeom prst="roundRect">
            <a:avLst>
              <a:gd name="adj" fmla="val 33333"/>
            </a:avLst>
          </a:prstGeom>
          <a:solidFill>
            <a:srgbClr val="3a6b9a"/>
          </a:solidFill>
          <a:ln w="12700">
            <a:solidFill>
              <a:srgbClr val="3a6b9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4"/>
          <p:cNvSpPr/>
          <p:nvPr/>
        </p:nvSpPr>
        <p:spPr>
          <a:xfrm>
            <a:off x="1078920" y="1618560"/>
            <a:ext cx="1279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Data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5"/>
          <p:cNvSpPr/>
          <p:nvPr/>
        </p:nvSpPr>
        <p:spPr>
          <a:xfrm>
            <a:off x="777240" y="2011680"/>
            <a:ext cx="18828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  <a:ea typeface="Aptos"/>
              </a:rPr>
              <a:t>noisy or contradictory corpora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  <a:ea typeface="Aptos"/>
              </a:rPr>
              <a:t>outdated information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  <a:ea typeface="Aptos"/>
              </a:rPr>
              <a:t>long-tail facts are underrepresented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6"/>
          <p:cNvSpPr/>
          <p:nvPr/>
        </p:nvSpPr>
        <p:spPr>
          <a:xfrm>
            <a:off x="3127320" y="1417320"/>
            <a:ext cx="2285280" cy="22395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7"/>
          <p:cNvSpPr/>
          <p:nvPr/>
        </p:nvSpPr>
        <p:spPr>
          <a:xfrm>
            <a:off x="3630240" y="1600200"/>
            <a:ext cx="1279440" cy="328320"/>
          </a:xfrm>
          <a:prstGeom prst="roundRect">
            <a:avLst>
              <a:gd name="adj" fmla="val 33333"/>
            </a:avLst>
          </a:prstGeom>
          <a:solidFill>
            <a:srgbClr val="534ab7"/>
          </a:solidFill>
          <a:ln w="12700">
            <a:solidFill>
              <a:srgbClr val="534ab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8"/>
          <p:cNvSpPr/>
          <p:nvPr/>
        </p:nvSpPr>
        <p:spPr>
          <a:xfrm>
            <a:off x="3630240" y="1618560"/>
            <a:ext cx="1279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Model / training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9"/>
          <p:cNvSpPr/>
          <p:nvPr/>
        </p:nvSpPr>
        <p:spPr>
          <a:xfrm>
            <a:off x="3328560" y="2011680"/>
            <a:ext cx="18828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  <a:ea typeface="Aptos"/>
              </a:rPr>
              <a:t>next-token objective favors plausibility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  <a:ea typeface="Aptos"/>
              </a:rPr>
              <a:t>decoding randomness accumulates error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  <a:ea typeface="Aptos"/>
              </a:rPr>
              <a:t>alignment can reward confidence over truth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10"/>
          <p:cNvSpPr/>
          <p:nvPr/>
        </p:nvSpPr>
        <p:spPr>
          <a:xfrm>
            <a:off x="5678280" y="1417320"/>
            <a:ext cx="2285280" cy="22395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11"/>
          <p:cNvSpPr/>
          <p:nvPr/>
        </p:nvSpPr>
        <p:spPr>
          <a:xfrm>
            <a:off x="6181200" y="1600200"/>
            <a:ext cx="1279440" cy="32832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12"/>
          <p:cNvSpPr/>
          <p:nvPr/>
        </p:nvSpPr>
        <p:spPr>
          <a:xfrm>
            <a:off x="6181200" y="1618560"/>
            <a:ext cx="1279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Usage / inference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3"/>
          <p:cNvSpPr/>
          <p:nvPr/>
        </p:nvSpPr>
        <p:spPr>
          <a:xfrm>
            <a:off x="5879520" y="2011680"/>
            <a:ext cx="18828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  <a:ea typeface="Aptos"/>
              </a:rPr>
              <a:t>ambiguous prompts invite speculation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  <a:ea typeface="Aptos"/>
              </a:rPr>
              <a:t>weak retrieval degrades grounding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  <a:ea typeface="Aptos"/>
              </a:rPr>
              <a:t>long contexts can dilute attention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4"/>
          <p:cNvSpPr/>
          <p:nvPr/>
        </p:nvSpPr>
        <p:spPr>
          <a:xfrm>
            <a:off x="868680" y="3822120"/>
            <a:ext cx="7405920" cy="401760"/>
          </a:xfrm>
          <a:prstGeom prst="roundRect">
            <a:avLst>
              <a:gd name="adj" fmla="val 18182"/>
            </a:avLst>
          </a:prstGeom>
          <a:solidFill>
            <a:srgbClr val="f0f4f8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5"/>
          <p:cNvSpPr/>
          <p:nvPr/>
        </p:nvSpPr>
        <p:spPr>
          <a:xfrm>
            <a:off x="1051560" y="3940920"/>
            <a:ext cx="70401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1b2a"/>
                </a:solidFill>
                <a:latin typeface="Aptos"/>
              </a:rPr>
              <a:t>Formal intuition: hallucination emerges when the model assigns higher probability to an incorrect continuation than to a grounded one.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6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7"/>
          <p:cNvSpPr/>
          <p:nvPr/>
        </p:nvSpPr>
        <p:spPr>
          <a:xfrm>
            <a:off x="384120" y="4690800"/>
            <a:ext cx="75888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8"/>
          <p:cNvSpPr/>
          <p:nvPr/>
        </p:nvSpPr>
        <p:spPr>
          <a:xfrm>
            <a:off x="8229600" y="4663440"/>
            <a:ext cx="365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576000" y="255960"/>
            <a:ext cx="7954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The RLHF paradox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576000" y="658440"/>
            <a:ext cx="8046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Alignment improves helpfulness, but can also intensify confident error.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2"/>
          <p:cNvSpPr/>
          <p:nvPr/>
        </p:nvSpPr>
        <p:spPr>
          <a:xfrm>
            <a:off x="731520" y="1234440"/>
            <a:ext cx="3382560" cy="22395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1600200" y="1444680"/>
            <a:ext cx="1645200" cy="32832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1600200" y="1463040"/>
            <a:ext cx="1645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What RLHF improves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987480" y="1847160"/>
            <a:ext cx="27882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d1b2a"/>
                </a:solidFill>
                <a:latin typeface="Aptos"/>
                <a:ea typeface="Aptos"/>
              </a:rPr>
              <a:t>instruction following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d1b2a"/>
                </a:solidFill>
                <a:latin typeface="Aptos"/>
                <a:ea typeface="Aptos"/>
              </a:rPr>
              <a:t>harmlessness and tone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d1b2a"/>
                </a:solidFill>
                <a:latin typeface="Aptos"/>
                <a:ea typeface="Aptos"/>
              </a:rPr>
              <a:t>preference alignment and usability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6"/>
          <p:cNvSpPr/>
          <p:nvPr/>
        </p:nvSpPr>
        <p:spPr>
          <a:xfrm>
            <a:off x="4572000" y="1234440"/>
            <a:ext cx="3382560" cy="22395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7"/>
          <p:cNvSpPr/>
          <p:nvPr/>
        </p:nvSpPr>
        <p:spPr>
          <a:xfrm>
            <a:off x="5577840" y="1444680"/>
            <a:ext cx="1370880" cy="32832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5577840" y="1463040"/>
            <a:ext cx="1370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Alignment tax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4827960" y="1847160"/>
            <a:ext cx="27882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d1b2a"/>
                </a:solidFill>
                <a:latin typeface="Aptos"/>
                <a:ea typeface="Aptos"/>
              </a:rPr>
              <a:t>coherence may be rewarded over correctness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d1b2a"/>
                </a:solidFill>
                <a:latin typeface="Aptos"/>
                <a:ea typeface="Aptos"/>
              </a:rPr>
              <a:t>models can become sycophantic or over-compliant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d1b2a"/>
                </a:solidFill>
                <a:latin typeface="Aptos"/>
                <a:ea typeface="Aptos"/>
              </a:rPr>
              <a:t>high-confidence hallucinations are hardest to detect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0"/>
          <p:cNvSpPr/>
          <p:nvPr/>
        </p:nvSpPr>
        <p:spPr>
          <a:xfrm>
            <a:off x="1143000" y="3675960"/>
            <a:ext cx="6582960" cy="511200"/>
          </a:xfrm>
          <a:prstGeom prst="roundRect">
            <a:avLst>
              <a:gd name="adj" fmla="val 14286"/>
            </a:avLst>
          </a:prstGeom>
          <a:solidFill>
            <a:srgbClr val="f6fbf9"/>
          </a:solidFill>
          <a:ln w="127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1325880" y="3822120"/>
            <a:ext cx="6217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</a:rPr>
              <a:t>Analytical takeaway: uncertainty-based detectors are weakest exactly where hallucinations become most dangerous—when the model sounds certain.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2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384120" y="4690800"/>
            <a:ext cx="75888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4"/>
          <p:cNvSpPr/>
          <p:nvPr/>
        </p:nvSpPr>
        <p:spPr>
          <a:xfrm>
            <a:off x="8229600" y="4663440"/>
            <a:ext cx="365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576000" y="255960"/>
            <a:ext cx="7954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How hallucination is detected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576000" y="658440"/>
            <a:ext cx="8046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Detection methods differ by what reference they trust and what signal they read.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822960" y="1188720"/>
            <a:ext cx="7360200" cy="50220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1005840" y="1280160"/>
            <a:ext cx="1553760" cy="328320"/>
          </a:xfrm>
          <a:prstGeom prst="roundRect">
            <a:avLst>
              <a:gd name="adj" fmla="val 33333"/>
            </a:avLst>
          </a:prstGeom>
          <a:solidFill>
            <a:srgbClr val="3a6b9a"/>
          </a:solidFill>
          <a:ln w="12700">
            <a:solidFill>
              <a:srgbClr val="3a6b9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1005840" y="1298520"/>
            <a:ext cx="1553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Retrieval-based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2697480" y="1334880"/>
            <a:ext cx="51656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1b2a"/>
                </a:solidFill>
                <a:latin typeface="Aptos"/>
              </a:rPr>
              <a:t>check claims against documents, databases, or knowledge graphs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6"/>
          <p:cNvSpPr/>
          <p:nvPr/>
        </p:nvSpPr>
        <p:spPr>
          <a:xfrm>
            <a:off x="822960" y="1810440"/>
            <a:ext cx="7360200" cy="50220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7"/>
          <p:cNvSpPr/>
          <p:nvPr/>
        </p:nvSpPr>
        <p:spPr>
          <a:xfrm>
            <a:off x="1005840" y="1901880"/>
            <a:ext cx="1553760" cy="32832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8"/>
          <p:cNvSpPr/>
          <p:nvPr/>
        </p:nvSpPr>
        <p:spPr>
          <a:xfrm>
            <a:off x="1005840" y="1920240"/>
            <a:ext cx="1553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Uncertainty-based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2697480" y="1956960"/>
            <a:ext cx="51656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1b2a"/>
                </a:solidFill>
                <a:latin typeface="Aptos"/>
              </a:rPr>
              <a:t>measure entropy, calibration, hesitation, or semantic uncertainty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10"/>
          <p:cNvSpPr/>
          <p:nvPr/>
        </p:nvSpPr>
        <p:spPr>
          <a:xfrm>
            <a:off x="822960" y="2432160"/>
            <a:ext cx="7360200" cy="50220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1"/>
          <p:cNvSpPr/>
          <p:nvPr/>
        </p:nvSpPr>
        <p:spPr>
          <a:xfrm>
            <a:off x="1005840" y="2523600"/>
            <a:ext cx="1553760" cy="328320"/>
          </a:xfrm>
          <a:prstGeom prst="roundRect">
            <a:avLst>
              <a:gd name="adj" fmla="val 33333"/>
            </a:avLst>
          </a:prstGeom>
          <a:solidFill>
            <a:srgbClr val="534ab7"/>
          </a:solidFill>
          <a:ln w="12700">
            <a:solidFill>
              <a:srgbClr val="534ab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1005840" y="2541960"/>
            <a:ext cx="1553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Embedding / state-based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2697480" y="2578680"/>
            <a:ext cx="51656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1b2a"/>
                </a:solidFill>
                <a:latin typeface="Aptos"/>
              </a:rPr>
              <a:t>detect shifts in hidden states, attention, or internal representations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14"/>
          <p:cNvSpPr/>
          <p:nvPr/>
        </p:nvSpPr>
        <p:spPr>
          <a:xfrm>
            <a:off x="822960" y="3054240"/>
            <a:ext cx="7360200" cy="50220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5"/>
          <p:cNvSpPr/>
          <p:nvPr/>
        </p:nvSpPr>
        <p:spPr>
          <a:xfrm>
            <a:off x="1005840" y="3145680"/>
            <a:ext cx="1553760" cy="32832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1005840" y="3163680"/>
            <a:ext cx="1553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Learning-based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7"/>
          <p:cNvSpPr/>
          <p:nvPr/>
        </p:nvSpPr>
        <p:spPr>
          <a:xfrm>
            <a:off x="2697480" y="3200400"/>
            <a:ext cx="51656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1b2a"/>
                </a:solidFill>
                <a:latin typeface="Aptos"/>
              </a:rPr>
              <a:t>train classifiers on annotated hallucination examples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8"/>
          <p:cNvSpPr/>
          <p:nvPr/>
        </p:nvSpPr>
        <p:spPr>
          <a:xfrm>
            <a:off x="822960" y="3675960"/>
            <a:ext cx="7360200" cy="50220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19"/>
          <p:cNvSpPr/>
          <p:nvPr/>
        </p:nvSpPr>
        <p:spPr>
          <a:xfrm>
            <a:off x="1005840" y="3767400"/>
            <a:ext cx="1553760" cy="328320"/>
          </a:xfrm>
          <a:prstGeom prst="roundRect">
            <a:avLst>
              <a:gd name="adj" fmla="val 33333"/>
            </a:avLst>
          </a:prstGeom>
          <a:solidFill>
            <a:srgbClr val="3a6b9a"/>
          </a:solidFill>
          <a:ln w="12700">
            <a:solidFill>
              <a:srgbClr val="3a6b9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20"/>
          <p:cNvSpPr/>
          <p:nvPr/>
        </p:nvSpPr>
        <p:spPr>
          <a:xfrm>
            <a:off x="1005840" y="3785760"/>
            <a:ext cx="1553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Self-consistency / verification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21"/>
          <p:cNvSpPr/>
          <p:nvPr/>
        </p:nvSpPr>
        <p:spPr>
          <a:xfrm>
            <a:off x="2697480" y="3822120"/>
            <a:ext cx="51656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1b2a"/>
                </a:solidFill>
                <a:latin typeface="Aptos"/>
              </a:rPr>
              <a:t>compare multiple generations or ask models to verify claims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22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23"/>
          <p:cNvSpPr/>
          <p:nvPr/>
        </p:nvSpPr>
        <p:spPr>
          <a:xfrm>
            <a:off x="384120" y="4690800"/>
            <a:ext cx="75888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24"/>
          <p:cNvSpPr/>
          <p:nvPr/>
        </p:nvSpPr>
        <p:spPr>
          <a:xfrm>
            <a:off x="8229600" y="4663440"/>
            <a:ext cx="365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7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576000" y="255960"/>
            <a:ext cx="7954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Evaluation and benchmarks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576000" y="658440"/>
            <a:ext cx="8046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The field has learned that benchmark choice can distort conclusions.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2"/>
          <p:cNvSpPr/>
          <p:nvPr/>
        </p:nvSpPr>
        <p:spPr>
          <a:xfrm>
            <a:off x="658440" y="1234440"/>
            <a:ext cx="1828080" cy="2239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3"/>
          <p:cNvSpPr/>
          <p:nvPr/>
        </p:nvSpPr>
        <p:spPr>
          <a:xfrm>
            <a:off x="1051560" y="1444680"/>
            <a:ext cx="1050840" cy="32832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4"/>
          <p:cNvSpPr/>
          <p:nvPr/>
        </p:nvSpPr>
        <p:spPr>
          <a:xfrm>
            <a:off x="1051560" y="1463040"/>
            <a:ext cx="1050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TruthfulQA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868680" y="1847160"/>
            <a:ext cx="14166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0d1b2a"/>
                </a:solidFill>
                <a:latin typeface="Aptos"/>
              </a:rPr>
              <a:t>Useful for factuality, but not a pure hallucination benchmark; contamination and saturation are concerns.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6"/>
          <p:cNvSpPr/>
          <p:nvPr/>
        </p:nvSpPr>
        <p:spPr>
          <a:xfrm>
            <a:off x="2697480" y="1234440"/>
            <a:ext cx="1828080" cy="2239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7"/>
          <p:cNvSpPr/>
          <p:nvPr/>
        </p:nvSpPr>
        <p:spPr>
          <a:xfrm>
            <a:off x="3090600" y="1444680"/>
            <a:ext cx="1050840" cy="328320"/>
          </a:xfrm>
          <a:prstGeom prst="roundRect">
            <a:avLst>
              <a:gd name="adj" fmla="val 33333"/>
            </a:avLst>
          </a:prstGeom>
          <a:solidFill>
            <a:srgbClr val="534ab7"/>
          </a:solidFill>
          <a:ln w="12700">
            <a:solidFill>
              <a:srgbClr val="534ab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3090600" y="1463040"/>
            <a:ext cx="1050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HalluLens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9"/>
          <p:cNvSpPr/>
          <p:nvPr/>
        </p:nvSpPr>
        <p:spPr>
          <a:xfrm>
            <a:off x="2880360" y="1847160"/>
            <a:ext cx="14623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0d1b2a"/>
                </a:solidFill>
                <a:latin typeface="Aptos"/>
              </a:rPr>
              <a:t>Strong conceptual contribution: separates hallucination from factuality and uses dynamic generation to resist leakage.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10"/>
          <p:cNvSpPr/>
          <p:nvPr/>
        </p:nvSpPr>
        <p:spPr>
          <a:xfrm>
            <a:off x="4736520" y="1234440"/>
            <a:ext cx="1599480" cy="223956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1"/>
          <p:cNvSpPr/>
          <p:nvPr/>
        </p:nvSpPr>
        <p:spPr>
          <a:xfrm>
            <a:off x="4965120" y="1444680"/>
            <a:ext cx="1096560" cy="328320"/>
          </a:xfrm>
          <a:prstGeom prst="roundRect">
            <a:avLst>
              <a:gd name="adj" fmla="val 33333"/>
            </a:avLst>
          </a:prstGeom>
          <a:solidFill>
            <a:srgbClr val="3a6b9a"/>
          </a:solidFill>
          <a:ln w="12700">
            <a:solidFill>
              <a:srgbClr val="3a6b9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2"/>
          <p:cNvSpPr/>
          <p:nvPr/>
        </p:nvSpPr>
        <p:spPr>
          <a:xfrm>
            <a:off x="4965120" y="1463040"/>
            <a:ext cx="10965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FaithBench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3"/>
          <p:cNvSpPr/>
          <p:nvPr/>
        </p:nvSpPr>
        <p:spPr>
          <a:xfrm>
            <a:off x="4919400" y="1920240"/>
            <a:ext cx="12337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1b2a"/>
                </a:solidFill>
                <a:latin typeface="Aptos"/>
              </a:rPr>
              <a:t>High-quality human annotation for summary hallucinations and faithfulness analysis.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4"/>
          <p:cNvSpPr/>
          <p:nvPr/>
        </p:nvSpPr>
        <p:spPr>
          <a:xfrm>
            <a:off x="6546960" y="1234440"/>
            <a:ext cx="1828080" cy="2239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5"/>
          <p:cNvSpPr/>
          <p:nvPr/>
        </p:nvSpPr>
        <p:spPr>
          <a:xfrm>
            <a:off x="6711840" y="1444680"/>
            <a:ext cx="1508040" cy="32832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6"/>
          <p:cNvSpPr/>
          <p:nvPr/>
        </p:nvSpPr>
        <p:spPr>
          <a:xfrm>
            <a:off x="6711840" y="1463040"/>
            <a:ext cx="1508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FACTSCORE / RAGAS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7"/>
          <p:cNvSpPr/>
          <p:nvPr/>
        </p:nvSpPr>
        <p:spPr>
          <a:xfrm>
            <a:off x="6748200" y="1847160"/>
            <a:ext cx="14166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0d1b2a"/>
                </a:solidFill>
                <a:latin typeface="Aptos"/>
              </a:rPr>
              <a:t>Claim-level decomposition supports scalable evaluation for long answers and RAG pipelines.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8"/>
          <p:cNvSpPr/>
          <p:nvPr/>
        </p:nvSpPr>
        <p:spPr>
          <a:xfrm>
            <a:off x="1097280" y="3675960"/>
            <a:ext cx="6720120" cy="511200"/>
          </a:xfrm>
          <a:prstGeom prst="roundRect">
            <a:avLst>
              <a:gd name="adj" fmla="val 14286"/>
            </a:avLst>
          </a:prstGeom>
          <a:solidFill>
            <a:srgbClr val="fff8e8"/>
          </a:solidFill>
          <a:ln w="127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9"/>
          <p:cNvSpPr/>
          <p:nvPr/>
        </p:nvSpPr>
        <p:spPr>
          <a:xfrm>
            <a:off x="1280160" y="3822120"/>
            <a:ext cx="63543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</a:rPr>
              <a:t>Bottom line: static benchmarks age quickly. Dynamic and claim-based evaluation better match how modern LLMs fail.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20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21"/>
          <p:cNvSpPr/>
          <p:nvPr/>
        </p:nvSpPr>
        <p:spPr>
          <a:xfrm>
            <a:off x="384120" y="4690800"/>
            <a:ext cx="75888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22"/>
          <p:cNvSpPr/>
          <p:nvPr/>
        </p:nvSpPr>
        <p:spPr>
          <a:xfrm>
            <a:off x="8229600" y="4663440"/>
            <a:ext cx="365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8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/>
          <p:nvPr/>
        </p:nvSpPr>
        <p:spPr>
          <a:xfrm>
            <a:off x="576000" y="255960"/>
            <a:ext cx="7954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Mitigation landscape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576000" y="658440"/>
            <a:ext cx="8046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Recent surveys organize the field into six recurring strategy families.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2"/>
          <p:cNvSpPr/>
          <p:nvPr/>
        </p:nvSpPr>
        <p:spPr>
          <a:xfrm>
            <a:off x="640080" y="1325880"/>
            <a:ext cx="214812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3"/>
          <p:cNvSpPr/>
          <p:nvPr/>
        </p:nvSpPr>
        <p:spPr>
          <a:xfrm>
            <a:off x="850320" y="1463040"/>
            <a:ext cx="1736640" cy="32832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4"/>
          <p:cNvSpPr/>
          <p:nvPr/>
        </p:nvSpPr>
        <p:spPr>
          <a:xfrm>
            <a:off x="850320" y="1481400"/>
            <a:ext cx="1736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Training &amp; learning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5"/>
          <p:cNvSpPr/>
          <p:nvPr/>
        </p:nvSpPr>
        <p:spPr>
          <a:xfrm>
            <a:off x="804600" y="1837800"/>
            <a:ext cx="1828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d1b2a"/>
                </a:solidFill>
                <a:latin typeface="Aptos"/>
              </a:rPr>
              <a:t>SFT, RLHF, contrastive learning, knowledge editing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6"/>
          <p:cNvSpPr/>
          <p:nvPr/>
        </p:nvSpPr>
        <p:spPr>
          <a:xfrm>
            <a:off x="3154680" y="1325880"/>
            <a:ext cx="214812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7"/>
          <p:cNvSpPr/>
          <p:nvPr/>
        </p:nvSpPr>
        <p:spPr>
          <a:xfrm>
            <a:off x="3364920" y="1463040"/>
            <a:ext cx="1736640" cy="328320"/>
          </a:xfrm>
          <a:prstGeom prst="roundRect">
            <a:avLst>
              <a:gd name="adj" fmla="val 33333"/>
            </a:avLst>
          </a:prstGeom>
          <a:solidFill>
            <a:srgbClr val="3a6b9a"/>
          </a:solidFill>
          <a:ln w="12700">
            <a:solidFill>
              <a:srgbClr val="3a6b9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8"/>
          <p:cNvSpPr/>
          <p:nvPr/>
        </p:nvSpPr>
        <p:spPr>
          <a:xfrm>
            <a:off x="3364920" y="1481400"/>
            <a:ext cx="1736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Architectural changes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9"/>
          <p:cNvSpPr/>
          <p:nvPr/>
        </p:nvSpPr>
        <p:spPr>
          <a:xfrm>
            <a:off x="3319200" y="1837800"/>
            <a:ext cx="1828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d1b2a"/>
                </a:solidFill>
                <a:latin typeface="Aptos"/>
              </a:rPr>
              <a:t>RAG, memory, attention or decoding changes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10"/>
          <p:cNvSpPr/>
          <p:nvPr/>
        </p:nvSpPr>
        <p:spPr>
          <a:xfrm>
            <a:off x="5669280" y="1325880"/>
            <a:ext cx="214812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1"/>
          <p:cNvSpPr/>
          <p:nvPr/>
        </p:nvSpPr>
        <p:spPr>
          <a:xfrm>
            <a:off x="5879520" y="1463040"/>
            <a:ext cx="1736640" cy="32832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2"/>
          <p:cNvSpPr/>
          <p:nvPr/>
        </p:nvSpPr>
        <p:spPr>
          <a:xfrm>
            <a:off x="5879520" y="1481400"/>
            <a:ext cx="1736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Prompt / input optimization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3"/>
          <p:cNvSpPr/>
          <p:nvPr/>
        </p:nvSpPr>
        <p:spPr>
          <a:xfrm>
            <a:off x="5833800" y="1837800"/>
            <a:ext cx="1828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d1b2a"/>
                </a:solidFill>
                <a:latin typeface="Aptos"/>
              </a:rPr>
              <a:t>CoT, self-consistency, few-shot, decomposition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14"/>
          <p:cNvSpPr/>
          <p:nvPr/>
        </p:nvSpPr>
        <p:spPr>
          <a:xfrm>
            <a:off x="640080" y="2743200"/>
            <a:ext cx="214812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5"/>
          <p:cNvSpPr/>
          <p:nvPr/>
        </p:nvSpPr>
        <p:spPr>
          <a:xfrm>
            <a:off x="850320" y="2880360"/>
            <a:ext cx="1736640" cy="328320"/>
          </a:xfrm>
          <a:prstGeom prst="roundRect">
            <a:avLst>
              <a:gd name="adj" fmla="val 33333"/>
            </a:avLst>
          </a:prstGeom>
          <a:solidFill>
            <a:srgbClr val="534ab7"/>
          </a:solidFill>
          <a:ln w="12700">
            <a:solidFill>
              <a:srgbClr val="534ab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16"/>
          <p:cNvSpPr/>
          <p:nvPr/>
        </p:nvSpPr>
        <p:spPr>
          <a:xfrm>
            <a:off x="850320" y="2898720"/>
            <a:ext cx="1736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Post-generation control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7"/>
          <p:cNvSpPr/>
          <p:nvPr/>
        </p:nvSpPr>
        <p:spPr>
          <a:xfrm>
            <a:off x="804600" y="3255120"/>
            <a:ext cx="1828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d1b2a"/>
                </a:solidFill>
                <a:latin typeface="Aptos"/>
              </a:rPr>
              <a:t>fact-checking, claim verification, reranking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8"/>
          <p:cNvSpPr/>
          <p:nvPr/>
        </p:nvSpPr>
        <p:spPr>
          <a:xfrm>
            <a:off x="3154680" y="2743200"/>
            <a:ext cx="214812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19"/>
          <p:cNvSpPr/>
          <p:nvPr/>
        </p:nvSpPr>
        <p:spPr>
          <a:xfrm>
            <a:off x="3364920" y="2880360"/>
            <a:ext cx="1736640" cy="328320"/>
          </a:xfrm>
          <a:prstGeom prst="roundRect">
            <a:avLst>
              <a:gd name="adj" fmla="val 33333"/>
            </a:avLst>
          </a:prstGeom>
          <a:solidFill>
            <a:srgbClr val="3a6b9a"/>
          </a:solidFill>
          <a:ln w="12700">
            <a:solidFill>
              <a:srgbClr val="3a6b9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20"/>
          <p:cNvSpPr/>
          <p:nvPr/>
        </p:nvSpPr>
        <p:spPr>
          <a:xfrm>
            <a:off x="3364920" y="2898720"/>
            <a:ext cx="1736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Interpretability &amp; diagnosis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21"/>
          <p:cNvSpPr/>
          <p:nvPr/>
        </p:nvSpPr>
        <p:spPr>
          <a:xfrm>
            <a:off x="3319200" y="3255120"/>
            <a:ext cx="1828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d1b2a"/>
                </a:solidFill>
                <a:latin typeface="Aptos"/>
              </a:rPr>
              <a:t>uncertainty, hidden states, probing, calibration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22"/>
          <p:cNvSpPr/>
          <p:nvPr/>
        </p:nvSpPr>
        <p:spPr>
          <a:xfrm>
            <a:off x="5669280" y="2743200"/>
            <a:ext cx="214812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23"/>
          <p:cNvSpPr/>
          <p:nvPr/>
        </p:nvSpPr>
        <p:spPr>
          <a:xfrm>
            <a:off x="5879520" y="2880360"/>
            <a:ext cx="1736640" cy="32832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24"/>
          <p:cNvSpPr/>
          <p:nvPr/>
        </p:nvSpPr>
        <p:spPr>
          <a:xfrm>
            <a:off x="5879520" y="2898720"/>
            <a:ext cx="1736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Agents &amp; orchestration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25"/>
          <p:cNvSpPr/>
          <p:nvPr/>
        </p:nvSpPr>
        <p:spPr>
          <a:xfrm>
            <a:off x="5833800" y="3255120"/>
            <a:ext cx="1828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d1b2a"/>
                </a:solidFill>
                <a:latin typeface="Aptos"/>
              </a:rPr>
              <a:t>RAG + reasoning + planning + self-reflection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26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27"/>
          <p:cNvSpPr/>
          <p:nvPr/>
        </p:nvSpPr>
        <p:spPr>
          <a:xfrm>
            <a:off x="384120" y="4690800"/>
            <a:ext cx="75888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28"/>
          <p:cNvSpPr/>
          <p:nvPr/>
        </p:nvSpPr>
        <p:spPr>
          <a:xfrm>
            <a:off x="8229600" y="4663440"/>
            <a:ext cx="365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9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576000" y="255960"/>
            <a:ext cx="7954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RAG: best for knowledge-based failures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576000" y="658440"/>
            <a:ext cx="8046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Retrieval is powerful because it expands knowledge at inference time without retraining.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2"/>
          <p:cNvSpPr/>
          <p:nvPr/>
        </p:nvSpPr>
        <p:spPr>
          <a:xfrm>
            <a:off x="594360" y="1554480"/>
            <a:ext cx="1096560" cy="657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667440" y="1783080"/>
            <a:ext cx="9504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3a5f"/>
                </a:solidFill>
                <a:latin typeface="Aptos"/>
              </a:rPr>
              <a:t>User prompt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1737360" y="1774080"/>
            <a:ext cx="2736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8ba5bc"/>
                </a:solidFill>
                <a:latin typeface="Apto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5"/>
          <p:cNvSpPr/>
          <p:nvPr/>
        </p:nvSpPr>
        <p:spPr>
          <a:xfrm>
            <a:off x="2057400" y="1554480"/>
            <a:ext cx="1096560" cy="657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2130480" y="1783080"/>
            <a:ext cx="9504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3a5f"/>
                </a:solidFill>
                <a:latin typeface="Aptos"/>
              </a:rPr>
              <a:t>Retriever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7"/>
          <p:cNvSpPr/>
          <p:nvPr/>
        </p:nvSpPr>
        <p:spPr>
          <a:xfrm>
            <a:off x="3200400" y="1774080"/>
            <a:ext cx="2736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8ba5bc"/>
                </a:solidFill>
                <a:latin typeface="Apto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8"/>
          <p:cNvSpPr/>
          <p:nvPr/>
        </p:nvSpPr>
        <p:spPr>
          <a:xfrm>
            <a:off x="3566160" y="1554480"/>
            <a:ext cx="1096560" cy="657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9"/>
          <p:cNvSpPr/>
          <p:nvPr/>
        </p:nvSpPr>
        <p:spPr>
          <a:xfrm>
            <a:off x="3639240" y="1783080"/>
            <a:ext cx="9504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3a5f"/>
                </a:solidFill>
                <a:latin typeface="Aptos"/>
              </a:rPr>
              <a:t>Retrieved docs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4709160" y="1774080"/>
            <a:ext cx="2736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8ba5bc"/>
                </a:solidFill>
                <a:latin typeface="Apto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1"/>
          <p:cNvSpPr/>
          <p:nvPr/>
        </p:nvSpPr>
        <p:spPr>
          <a:xfrm>
            <a:off x="5074920" y="1554480"/>
            <a:ext cx="1096560" cy="657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2"/>
          <p:cNvSpPr/>
          <p:nvPr/>
        </p:nvSpPr>
        <p:spPr>
          <a:xfrm>
            <a:off x="5148000" y="1783080"/>
            <a:ext cx="9504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3a5f"/>
                </a:solidFill>
                <a:latin typeface="Aptos"/>
              </a:rPr>
              <a:t>LLM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3"/>
          <p:cNvSpPr/>
          <p:nvPr/>
        </p:nvSpPr>
        <p:spPr>
          <a:xfrm>
            <a:off x="6217920" y="1774080"/>
            <a:ext cx="2736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8ba5bc"/>
                </a:solidFill>
                <a:latin typeface="Apto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4"/>
          <p:cNvSpPr/>
          <p:nvPr/>
        </p:nvSpPr>
        <p:spPr>
          <a:xfrm>
            <a:off x="6583680" y="1554480"/>
            <a:ext cx="1096560" cy="657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5"/>
          <p:cNvSpPr/>
          <p:nvPr/>
        </p:nvSpPr>
        <p:spPr>
          <a:xfrm>
            <a:off x="6656760" y="1783080"/>
            <a:ext cx="9504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3a5f"/>
                </a:solidFill>
                <a:latin typeface="Aptos"/>
              </a:rPr>
              <a:t>Grounded answer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6"/>
          <p:cNvSpPr/>
          <p:nvPr/>
        </p:nvSpPr>
        <p:spPr>
          <a:xfrm>
            <a:off x="749880" y="2743200"/>
            <a:ext cx="3519720" cy="12337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17"/>
          <p:cNvSpPr/>
          <p:nvPr/>
        </p:nvSpPr>
        <p:spPr>
          <a:xfrm>
            <a:off x="1828800" y="2907720"/>
            <a:ext cx="1370880" cy="32832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18"/>
          <p:cNvSpPr/>
          <p:nvPr/>
        </p:nvSpPr>
        <p:spPr>
          <a:xfrm>
            <a:off x="1828800" y="2926080"/>
            <a:ext cx="1370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Advantages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19"/>
          <p:cNvSpPr/>
          <p:nvPr/>
        </p:nvSpPr>
        <p:spPr>
          <a:xfrm>
            <a:off x="960120" y="3246120"/>
            <a:ext cx="3062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updates knowledge without full retraining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grounds answers in inspectable sources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works especially well for stale or domain-specific knowledge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20"/>
          <p:cNvSpPr/>
          <p:nvPr/>
        </p:nvSpPr>
        <p:spPr>
          <a:xfrm>
            <a:off x="4681800" y="2743200"/>
            <a:ext cx="3519720" cy="12337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21"/>
          <p:cNvSpPr/>
          <p:nvPr/>
        </p:nvSpPr>
        <p:spPr>
          <a:xfrm>
            <a:off x="5806440" y="2907720"/>
            <a:ext cx="1279440" cy="32832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22"/>
          <p:cNvSpPr/>
          <p:nvPr/>
        </p:nvSpPr>
        <p:spPr>
          <a:xfrm>
            <a:off x="5806440" y="2926080"/>
            <a:ext cx="1279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Limitations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23"/>
          <p:cNvSpPr/>
          <p:nvPr/>
        </p:nvSpPr>
        <p:spPr>
          <a:xfrm>
            <a:off x="4892040" y="3246120"/>
            <a:ext cx="3062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weak retrieval yields weak grounding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the model can still contradict retrieved evidence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long pipelines add latency and cost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24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25"/>
          <p:cNvSpPr/>
          <p:nvPr/>
        </p:nvSpPr>
        <p:spPr>
          <a:xfrm>
            <a:off x="384120" y="4690800"/>
            <a:ext cx="75888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26"/>
          <p:cNvSpPr/>
          <p:nvPr/>
        </p:nvSpPr>
        <p:spPr>
          <a:xfrm>
            <a:off x="8229600" y="4663440"/>
            <a:ext cx="365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10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 0"/>
          <p:cNvSpPr/>
          <p:nvPr/>
        </p:nvSpPr>
        <p:spPr>
          <a:xfrm>
            <a:off x="576000" y="255960"/>
            <a:ext cx="7954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Prompting and reasoning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"/>
          <p:cNvSpPr/>
          <p:nvPr/>
        </p:nvSpPr>
        <p:spPr>
          <a:xfrm>
            <a:off x="576000" y="658440"/>
            <a:ext cx="8046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Prompt optimization is cheap and flexible, but not a universal fix.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2"/>
          <p:cNvSpPr/>
          <p:nvPr/>
        </p:nvSpPr>
        <p:spPr>
          <a:xfrm>
            <a:off x="658440" y="1463040"/>
            <a:ext cx="2468160" cy="2010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3"/>
          <p:cNvSpPr/>
          <p:nvPr/>
        </p:nvSpPr>
        <p:spPr>
          <a:xfrm>
            <a:off x="978480" y="1664280"/>
            <a:ext cx="1828080" cy="328320"/>
          </a:xfrm>
          <a:prstGeom prst="roundRect">
            <a:avLst>
              <a:gd name="adj" fmla="val 33333"/>
            </a:avLst>
          </a:prstGeom>
          <a:solidFill>
            <a:srgbClr val="3a6b9a"/>
          </a:solidFill>
          <a:ln w="12700">
            <a:solidFill>
              <a:srgbClr val="3a6b9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4"/>
          <p:cNvSpPr/>
          <p:nvPr/>
        </p:nvSpPr>
        <p:spPr>
          <a:xfrm>
            <a:off x="978480" y="168264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Chain-of-Thought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5"/>
          <p:cNvSpPr/>
          <p:nvPr/>
        </p:nvSpPr>
        <p:spPr>
          <a:xfrm>
            <a:off x="859680" y="2103120"/>
            <a:ext cx="205668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</a:rPr>
              <a:t>Encourages step-by-step reasoning and reduces many prompt-sensitive failures.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6"/>
          <p:cNvSpPr/>
          <p:nvPr/>
        </p:nvSpPr>
        <p:spPr>
          <a:xfrm>
            <a:off x="3401640" y="1463040"/>
            <a:ext cx="2468160" cy="2010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7"/>
          <p:cNvSpPr/>
          <p:nvPr/>
        </p:nvSpPr>
        <p:spPr>
          <a:xfrm>
            <a:off x="3721680" y="1664280"/>
            <a:ext cx="1828080" cy="32832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8"/>
          <p:cNvSpPr/>
          <p:nvPr/>
        </p:nvSpPr>
        <p:spPr>
          <a:xfrm>
            <a:off x="3721680" y="168264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Self-consistency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9"/>
          <p:cNvSpPr/>
          <p:nvPr/>
        </p:nvSpPr>
        <p:spPr>
          <a:xfrm>
            <a:off x="3602880" y="2103120"/>
            <a:ext cx="205668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</a:rPr>
              <a:t>Sample multiple reasoning paths and aggregate; disagreement is a useful confidence signal.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10"/>
          <p:cNvSpPr/>
          <p:nvPr/>
        </p:nvSpPr>
        <p:spPr>
          <a:xfrm>
            <a:off x="6144840" y="1463040"/>
            <a:ext cx="2468160" cy="2010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11"/>
          <p:cNvSpPr/>
          <p:nvPr/>
        </p:nvSpPr>
        <p:spPr>
          <a:xfrm>
            <a:off x="6464880" y="1664280"/>
            <a:ext cx="1828080" cy="32832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12"/>
          <p:cNvSpPr/>
          <p:nvPr/>
        </p:nvSpPr>
        <p:spPr>
          <a:xfrm>
            <a:off x="6464880" y="168264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Structured prompting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13"/>
          <p:cNvSpPr/>
          <p:nvPr/>
        </p:nvSpPr>
        <p:spPr>
          <a:xfrm>
            <a:off x="6346080" y="2103120"/>
            <a:ext cx="205668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</a:rPr>
              <a:t>Explicit task framing, examples, and constraints reduce open-ended invention.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14"/>
          <p:cNvSpPr/>
          <p:nvPr/>
        </p:nvSpPr>
        <p:spPr>
          <a:xfrm>
            <a:off x="1097280" y="3794760"/>
            <a:ext cx="6628680" cy="456480"/>
          </a:xfrm>
          <a:prstGeom prst="roundRect">
            <a:avLst>
              <a:gd name="adj" fmla="val 16000"/>
            </a:avLst>
          </a:prstGeom>
          <a:solidFill>
            <a:srgbClr val="fff8e8"/>
          </a:solidFill>
          <a:ln w="127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15"/>
          <p:cNvSpPr/>
          <p:nvPr/>
        </p:nvSpPr>
        <p:spPr>
          <a:xfrm>
            <a:off x="1280160" y="3940920"/>
            <a:ext cx="62629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0d1b2a"/>
                </a:solidFill>
                <a:latin typeface="Aptos"/>
              </a:rPr>
              <a:t>Best reading of the evidence: prompting can suppress hallucinations when failure is prompt-sensitive, but it cannot repair model-intrinsic limits by itself.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16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17"/>
          <p:cNvSpPr/>
          <p:nvPr/>
        </p:nvSpPr>
        <p:spPr>
          <a:xfrm>
            <a:off x="384120" y="4690800"/>
            <a:ext cx="75888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18"/>
          <p:cNvSpPr/>
          <p:nvPr/>
        </p:nvSpPr>
        <p:spPr>
          <a:xfrm>
            <a:off x="8229600" y="4663440"/>
            <a:ext cx="365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11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 0"/>
          <p:cNvSpPr/>
          <p:nvPr/>
        </p:nvSpPr>
        <p:spPr>
          <a:xfrm>
            <a:off x="576000" y="255960"/>
            <a:ext cx="7954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Training, alignment, and interpretability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1"/>
          <p:cNvSpPr/>
          <p:nvPr/>
        </p:nvSpPr>
        <p:spPr>
          <a:xfrm>
            <a:off x="576000" y="658440"/>
            <a:ext cx="8046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Longer-term progress depends on improving the model itself—and understanding it better.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2"/>
          <p:cNvSpPr/>
          <p:nvPr/>
        </p:nvSpPr>
        <p:spPr>
          <a:xfrm>
            <a:off x="640080" y="1325880"/>
            <a:ext cx="3656880" cy="242244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3"/>
          <p:cNvSpPr/>
          <p:nvPr/>
        </p:nvSpPr>
        <p:spPr>
          <a:xfrm>
            <a:off x="1691640" y="1554480"/>
            <a:ext cx="1599480" cy="32832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4"/>
          <p:cNvSpPr/>
          <p:nvPr/>
        </p:nvSpPr>
        <p:spPr>
          <a:xfrm>
            <a:off x="1691640" y="1572840"/>
            <a:ext cx="1599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Training &amp; alignment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5"/>
          <p:cNvSpPr/>
          <p:nvPr/>
        </p:nvSpPr>
        <p:spPr>
          <a:xfrm>
            <a:off x="868680" y="1920240"/>
            <a:ext cx="315396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supervised fine-tuning, preference optimization, and contrastive learning can improve factual behavior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but fine-tuning can also inject new hallucinations or overconfidence if targets are weak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hybrid pipelines usually outperform isolated training interventions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6"/>
          <p:cNvSpPr/>
          <p:nvPr/>
        </p:nvSpPr>
        <p:spPr>
          <a:xfrm>
            <a:off x="4663440" y="1325880"/>
            <a:ext cx="3656880" cy="242244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7"/>
          <p:cNvSpPr/>
          <p:nvPr/>
        </p:nvSpPr>
        <p:spPr>
          <a:xfrm>
            <a:off x="5833800" y="1554480"/>
            <a:ext cx="1325160" cy="328320"/>
          </a:xfrm>
          <a:prstGeom prst="roundRect">
            <a:avLst>
              <a:gd name="adj" fmla="val 33333"/>
            </a:avLst>
          </a:prstGeom>
          <a:solidFill>
            <a:srgbClr val="534ab7"/>
          </a:solidFill>
          <a:ln w="12700">
            <a:solidFill>
              <a:srgbClr val="534ab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8"/>
          <p:cNvSpPr/>
          <p:nvPr/>
        </p:nvSpPr>
        <p:spPr>
          <a:xfrm>
            <a:off x="5833800" y="1572840"/>
            <a:ext cx="1325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Interpretability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9"/>
          <p:cNvSpPr/>
          <p:nvPr/>
        </p:nvSpPr>
        <p:spPr>
          <a:xfrm>
            <a:off x="4892040" y="1920240"/>
            <a:ext cx="315396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hidden-state methods show hallucination has detectable internal signatures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recent neuron-level work suggests sparse subsets can predict and influence hallucination-related behavior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  <a:ea typeface="Aptos"/>
              </a:rPr>
              <a:t>this opens a path from diagnosis toward targeted intervention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10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11"/>
          <p:cNvSpPr/>
          <p:nvPr/>
        </p:nvSpPr>
        <p:spPr>
          <a:xfrm>
            <a:off x="384120" y="4690800"/>
            <a:ext cx="75888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12"/>
          <p:cNvSpPr/>
          <p:nvPr/>
        </p:nvSpPr>
        <p:spPr>
          <a:xfrm>
            <a:off x="8229600" y="4663440"/>
            <a:ext cx="365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12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0"/>
          <p:cNvSpPr/>
          <p:nvPr/>
        </p:nvSpPr>
        <p:spPr>
          <a:xfrm>
            <a:off x="576000" y="255960"/>
            <a:ext cx="7954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Agentic systems: where the field is heading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1"/>
          <p:cNvSpPr/>
          <p:nvPr/>
        </p:nvSpPr>
        <p:spPr>
          <a:xfrm>
            <a:off x="576000" y="658440"/>
            <a:ext cx="8046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The emerging pattern is to combine retrieval, reasoning, planning, and verification.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2"/>
          <p:cNvSpPr/>
          <p:nvPr/>
        </p:nvSpPr>
        <p:spPr>
          <a:xfrm>
            <a:off x="731520" y="1645920"/>
            <a:ext cx="1142280" cy="657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3"/>
          <p:cNvSpPr/>
          <p:nvPr/>
        </p:nvSpPr>
        <p:spPr>
          <a:xfrm>
            <a:off x="850320" y="1828800"/>
            <a:ext cx="895320" cy="328320"/>
          </a:xfrm>
          <a:prstGeom prst="roundRect">
            <a:avLst>
              <a:gd name="adj" fmla="val 33333"/>
            </a:avLst>
          </a:prstGeom>
          <a:solidFill>
            <a:srgbClr val="3a6b9a"/>
          </a:solidFill>
          <a:ln w="12700">
            <a:solidFill>
              <a:srgbClr val="3a6b9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4"/>
          <p:cNvSpPr/>
          <p:nvPr/>
        </p:nvSpPr>
        <p:spPr>
          <a:xfrm>
            <a:off x="850320" y="1847160"/>
            <a:ext cx="895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Plan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5"/>
          <p:cNvSpPr/>
          <p:nvPr/>
        </p:nvSpPr>
        <p:spPr>
          <a:xfrm>
            <a:off x="1901880" y="1856160"/>
            <a:ext cx="2368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8ba5bc"/>
                </a:solidFill>
                <a:latin typeface="Apto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6"/>
          <p:cNvSpPr/>
          <p:nvPr/>
        </p:nvSpPr>
        <p:spPr>
          <a:xfrm>
            <a:off x="2304360" y="1645920"/>
            <a:ext cx="1142280" cy="657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7"/>
          <p:cNvSpPr/>
          <p:nvPr/>
        </p:nvSpPr>
        <p:spPr>
          <a:xfrm>
            <a:off x="2423160" y="1828800"/>
            <a:ext cx="895320" cy="32832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8"/>
          <p:cNvSpPr/>
          <p:nvPr/>
        </p:nvSpPr>
        <p:spPr>
          <a:xfrm>
            <a:off x="2423160" y="1847160"/>
            <a:ext cx="895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Retrieve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9"/>
          <p:cNvSpPr/>
          <p:nvPr/>
        </p:nvSpPr>
        <p:spPr>
          <a:xfrm>
            <a:off x="3474720" y="1856160"/>
            <a:ext cx="2368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8ba5bc"/>
                </a:solidFill>
                <a:latin typeface="Apto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0"/>
          <p:cNvSpPr/>
          <p:nvPr/>
        </p:nvSpPr>
        <p:spPr>
          <a:xfrm>
            <a:off x="3877200" y="1645920"/>
            <a:ext cx="1142280" cy="657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11"/>
          <p:cNvSpPr/>
          <p:nvPr/>
        </p:nvSpPr>
        <p:spPr>
          <a:xfrm>
            <a:off x="3996000" y="1828800"/>
            <a:ext cx="895320" cy="328320"/>
          </a:xfrm>
          <a:prstGeom prst="roundRect">
            <a:avLst>
              <a:gd name="adj" fmla="val 33333"/>
            </a:avLst>
          </a:prstGeom>
          <a:solidFill>
            <a:srgbClr val="534ab7"/>
          </a:solidFill>
          <a:ln w="12700">
            <a:solidFill>
              <a:srgbClr val="534ab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2"/>
          <p:cNvSpPr/>
          <p:nvPr/>
        </p:nvSpPr>
        <p:spPr>
          <a:xfrm>
            <a:off x="3996000" y="1847160"/>
            <a:ext cx="895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Reason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13"/>
          <p:cNvSpPr/>
          <p:nvPr/>
        </p:nvSpPr>
        <p:spPr>
          <a:xfrm>
            <a:off x="5047560" y="1856160"/>
            <a:ext cx="2368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8ba5bc"/>
                </a:solidFill>
                <a:latin typeface="Apto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14"/>
          <p:cNvSpPr/>
          <p:nvPr/>
        </p:nvSpPr>
        <p:spPr>
          <a:xfrm>
            <a:off x="5449680" y="1645920"/>
            <a:ext cx="1142280" cy="657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15"/>
          <p:cNvSpPr/>
          <p:nvPr/>
        </p:nvSpPr>
        <p:spPr>
          <a:xfrm>
            <a:off x="5568840" y="1828800"/>
            <a:ext cx="895320" cy="32832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16"/>
          <p:cNvSpPr/>
          <p:nvPr/>
        </p:nvSpPr>
        <p:spPr>
          <a:xfrm>
            <a:off x="5568840" y="1847160"/>
            <a:ext cx="895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Verify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17"/>
          <p:cNvSpPr/>
          <p:nvPr/>
        </p:nvSpPr>
        <p:spPr>
          <a:xfrm>
            <a:off x="6620400" y="1856160"/>
            <a:ext cx="2368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8ba5bc"/>
                </a:solidFill>
                <a:latin typeface="Apto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18"/>
          <p:cNvSpPr/>
          <p:nvPr/>
        </p:nvSpPr>
        <p:spPr>
          <a:xfrm>
            <a:off x="7022520" y="1645920"/>
            <a:ext cx="1142280" cy="657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19"/>
          <p:cNvSpPr/>
          <p:nvPr/>
        </p:nvSpPr>
        <p:spPr>
          <a:xfrm>
            <a:off x="7141320" y="1828800"/>
            <a:ext cx="895320" cy="328320"/>
          </a:xfrm>
          <a:prstGeom prst="roundRect">
            <a:avLst>
              <a:gd name="adj" fmla="val 33333"/>
            </a:avLst>
          </a:prstGeom>
          <a:solidFill>
            <a:srgbClr val="3a6b9a"/>
          </a:solidFill>
          <a:ln w="12700">
            <a:solidFill>
              <a:srgbClr val="3a6b9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20"/>
          <p:cNvSpPr/>
          <p:nvPr/>
        </p:nvSpPr>
        <p:spPr>
          <a:xfrm>
            <a:off x="7141320" y="1847160"/>
            <a:ext cx="895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Revise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21"/>
          <p:cNvSpPr/>
          <p:nvPr/>
        </p:nvSpPr>
        <p:spPr>
          <a:xfrm>
            <a:off x="868680" y="2743200"/>
            <a:ext cx="7314480" cy="109656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22"/>
          <p:cNvSpPr/>
          <p:nvPr/>
        </p:nvSpPr>
        <p:spPr>
          <a:xfrm>
            <a:off x="3566160" y="2907720"/>
            <a:ext cx="19195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3a5f"/>
                </a:solidFill>
                <a:latin typeface="Aptos"/>
              </a:rPr>
              <a:t>Why this matters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23"/>
          <p:cNvSpPr/>
          <p:nvPr/>
        </p:nvSpPr>
        <p:spPr>
          <a:xfrm>
            <a:off x="1115640" y="3218760"/>
            <a:ext cx="68115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0d1b2a"/>
                </a:solidFill>
                <a:latin typeface="Aptos"/>
              </a:rPr>
              <a:t>Agentic pipelines are attractive because they address both knowledge-based and logic-based errors. Instead of hoping a single generation is correct, they turn answering into an iterative process of search, decomposition, checking, and repair.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24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25"/>
          <p:cNvSpPr/>
          <p:nvPr/>
        </p:nvSpPr>
        <p:spPr>
          <a:xfrm>
            <a:off x="384120" y="4690800"/>
            <a:ext cx="75888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26"/>
          <p:cNvSpPr/>
          <p:nvPr/>
        </p:nvSpPr>
        <p:spPr>
          <a:xfrm>
            <a:off x="8229600" y="4663440"/>
            <a:ext cx="365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13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 0"/>
          <p:cNvSpPr/>
          <p:nvPr/>
        </p:nvSpPr>
        <p:spPr>
          <a:xfrm>
            <a:off x="576000" y="255960"/>
            <a:ext cx="7954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Open challenges and research directions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1"/>
          <p:cNvSpPr/>
          <p:nvPr/>
        </p:nvSpPr>
        <p:spPr>
          <a:xfrm>
            <a:off x="576000" y="658440"/>
            <a:ext cx="8046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The main gaps are no longer only empirical—they are also conceptual and evaluative.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2"/>
          <p:cNvSpPr/>
          <p:nvPr/>
        </p:nvSpPr>
        <p:spPr>
          <a:xfrm>
            <a:off x="731520" y="1325880"/>
            <a:ext cx="7497360" cy="56628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3"/>
          <p:cNvSpPr/>
          <p:nvPr/>
        </p:nvSpPr>
        <p:spPr>
          <a:xfrm>
            <a:off x="914400" y="1426320"/>
            <a:ext cx="1919520" cy="32832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4"/>
          <p:cNvSpPr/>
          <p:nvPr/>
        </p:nvSpPr>
        <p:spPr>
          <a:xfrm>
            <a:off x="914400" y="1444680"/>
            <a:ext cx="1919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Definitions still vary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5"/>
          <p:cNvSpPr/>
          <p:nvPr/>
        </p:nvSpPr>
        <p:spPr>
          <a:xfrm>
            <a:off x="2999160" y="1490400"/>
            <a:ext cx="4891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</a:rPr>
              <a:t>benchmark claims remain inconsistent when hallucination and factuality are mixed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6"/>
          <p:cNvSpPr/>
          <p:nvPr/>
        </p:nvSpPr>
        <p:spPr>
          <a:xfrm>
            <a:off x="731520" y="2039040"/>
            <a:ext cx="7497360" cy="56628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7"/>
          <p:cNvSpPr/>
          <p:nvPr/>
        </p:nvSpPr>
        <p:spPr>
          <a:xfrm>
            <a:off x="914400" y="2139840"/>
            <a:ext cx="1919520" cy="328320"/>
          </a:xfrm>
          <a:prstGeom prst="roundRect">
            <a:avLst>
              <a:gd name="adj" fmla="val 33333"/>
            </a:avLst>
          </a:prstGeom>
          <a:solidFill>
            <a:srgbClr val="3a6b9a"/>
          </a:solidFill>
          <a:ln w="12700">
            <a:solidFill>
              <a:srgbClr val="3a6b9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8"/>
          <p:cNvSpPr/>
          <p:nvPr/>
        </p:nvSpPr>
        <p:spPr>
          <a:xfrm>
            <a:off x="914400" y="2157840"/>
            <a:ext cx="1919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  <a:ea typeface="Aptos"/>
              </a:rPr>
              <a:t>Multimodal and multilingual gaps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9"/>
          <p:cNvSpPr/>
          <p:nvPr/>
        </p:nvSpPr>
        <p:spPr>
          <a:xfrm>
            <a:off x="2999160" y="2203560"/>
            <a:ext cx="4891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</a:rPr>
              <a:t>vision-language settings and non-English languages are less studied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10"/>
          <p:cNvSpPr/>
          <p:nvPr/>
        </p:nvSpPr>
        <p:spPr>
          <a:xfrm>
            <a:off x="731520" y="2752200"/>
            <a:ext cx="7497360" cy="56628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11"/>
          <p:cNvSpPr/>
          <p:nvPr/>
        </p:nvSpPr>
        <p:spPr>
          <a:xfrm>
            <a:off x="914400" y="2853000"/>
            <a:ext cx="1919520" cy="328320"/>
          </a:xfrm>
          <a:prstGeom prst="roundRect">
            <a:avLst>
              <a:gd name="adj" fmla="val 33333"/>
            </a:avLst>
          </a:prstGeom>
          <a:solidFill>
            <a:srgbClr val="0f6e56"/>
          </a:solidFill>
          <a:ln w="12700">
            <a:solidFill>
              <a:srgbClr val="0f6e56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12"/>
          <p:cNvSpPr/>
          <p:nvPr/>
        </p:nvSpPr>
        <p:spPr>
          <a:xfrm>
            <a:off x="914400" y="2871360"/>
            <a:ext cx="1919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Real-time deployment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13"/>
          <p:cNvSpPr/>
          <p:nvPr/>
        </p:nvSpPr>
        <p:spPr>
          <a:xfrm>
            <a:off x="2999160" y="2917080"/>
            <a:ext cx="4891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</a:rPr>
              <a:t>production systems need token-level or low-latency detection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14"/>
          <p:cNvSpPr/>
          <p:nvPr/>
        </p:nvSpPr>
        <p:spPr>
          <a:xfrm>
            <a:off x="731520" y="3465720"/>
            <a:ext cx="7497360" cy="56628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15"/>
          <p:cNvSpPr/>
          <p:nvPr/>
        </p:nvSpPr>
        <p:spPr>
          <a:xfrm>
            <a:off x="914400" y="3566160"/>
            <a:ext cx="1919520" cy="328320"/>
          </a:xfrm>
          <a:prstGeom prst="roundRect">
            <a:avLst>
              <a:gd name="adj" fmla="val 33333"/>
            </a:avLst>
          </a:prstGeom>
          <a:solidFill>
            <a:srgbClr val="534ab7"/>
          </a:solidFill>
          <a:ln w="12700">
            <a:solidFill>
              <a:srgbClr val="534ab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16"/>
          <p:cNvSpPr/>
          <p:nvPr/>
        </p:nvSpPr>
        <p:spPr>
          <a:xfrm>
            <a:off x="914400" y="3584520"/>
            <a:ext cx="1919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Attribution remains difficult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17"/>
          <p:cNvSpPr/>
          <p:nvPr/>
        </p:nvSpPr>
        <p:spPr>
          <a:xfrm>
            <a:off x="2999160" y="3630240"/>
            <a:ext cx="4891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b2a"/>
                </a:solidFill>
                <a:latin typeface="Aptos"/>
              </a:rPr>
              <a:t>combined systems make it hard to isolate what actually fixed the error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18"/>
          <p:cNvSpPr/>
          <p:nvPr/>
        </p:nvSpPr>
        <p:spPr>
          <a:xfrm>
            <a:off x="1005840" y="4206240"/>
            <a:ext cx="6903000" cy="383400"/>
          </a:xfrm>
          <a:prstGeom prst="roundRect">
            <a:avLst>
              <a:gd name="adj" fmla="val 19048"/>
            </a:avLst>
          </a:prstGeom>
          <a:solidFill>
            <a:srgbClr val="f6fbf9"/>
          </a:solidFill>
          <a:ln w="127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19"/>
          <p:cNvSpPr/>
          <p:nvPr/>
        </p:nvSpPr>
        <p:spPr>
          <a:xfrm>
            <a:off x="1234440" y="4316040"/>
            <a:ext cx="64458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60" spc="-1" strike="noStrike">
                <a:solidFill>
                  <a:srgbClr val="0d1b2a"/>
                </a:solidFill>
                <a:latin typeface="Aptos"/>
              </a:rPr>
              <a:t>Most promising direction: grounded generation plus reflective reasoning plus calibrated refusal when knowledge is insufficient.</a:t>
            </a:r>
            <a:endParaRPr b="0" lang="en-US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20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21"/>
          <p:cNvSpPr/>
          <p:nvPr/>
        </p:nvSpPr>
        <p:spPr>
          <a:xfrm>
            <a:off x="384120" y="4690800"/>
            <a:ext cx="75888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22"/>
          <p:cNvSpPr/>
          <p:nvPr/>
        </p:nvSpPr>
        <p:spPr>
          <a:xfrm>
            <a:off x="8229600" y="4663440"/>
            <a:ext cx="365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14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 0"/>
          <p:cNvSpPr/>
          <p:nvPr/>
        </p:nvSpPr>
        <p:spPr>
          <a:xfrm>
            <a:off x="576000" y="255960"/>
            <a:ext cx="7954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ptos Display"/>
                <a:ea typeface="Aptos Display"/>
              </a:rPr>
              <a:t>Conclusions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1"/>
          <p:cNvSpPr/>
          <p:nvPr/>
        </p:nvSpPr>
        <p:spPr>
          <a:xfrm>
            <a:off x="576000" y="658440"/>
            <a:ext cx="8046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6b9a"/>
                </a:solidFill>
                <a:latin typeface="Aptos"/>
                <a:ea typeface="Aptos"/>
              </a:rPr>
              <a:t>A condensed reading of the literature.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2"/>
          <p:cNvSpPr/>
          <p:nvPr/>
        </p:nvSpPr>
        <p:spPr>
          <a:xfrm>
            <a:off x="868680" y="1170360"/>
            <a:ext cx="7314480" cy="32454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3"/>
          <p:cNvSpPr/>
          <p:nvPr/>
        </p:nvSpPr>
        <p:spPr>
          <a:xfrm>
            <a:off x="1143000" y="1481400"/>
            <a:ext cx="2005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3a5f"/>
                </a:solidFill>
                <a:latin typeface="Aptos"/>
              </a:rPr>
              <a:t>1.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4"/>
          <p:cNvSpPr/>
          <p:nvPr/>
        </p:nvSpPr>
        <p:spPr>
          <a:xfrm>
            <a:off x="1417320" y="1463040"/>
            <a:ext cx="63543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40" spc="-1" strike="noStrike">
                <a:solidFill>
                  <a:srgbClr val="0d1b2a"/>
                </a:solidFill>
                <a:latin typeface="Aptos"/>
              </a:rPr>
              <a:t>Hallucination is not one phenomenon; it spans source inconsistency, factual error, and reasoning failure.</a:t>
            </a:r>
            <a:endParaRPr b="0" lang="en-US" sz="11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5"/>
          <p:cNvSpPr/>
          <p:nvPr/>
        </p:nvSpPr>
        <p:spPr>
          <a:xfrm>
            <a:off x="1143000" y="2011680"/>
            <a:ext cx="2005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3a5f"/>
                </a:solidFill>
                <a:latin typeface="Aptos"/>
              </a:rPr>
              <a:t>2.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6"/>
          <p:cNvSpPr/>
          <p:nvPr/>
        </p:nvSpPr>
        <p:spPr>
          <a:xfrm>
            <a:off x="1417320" y="1993320"/>
            <a:ext cx="63543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40" spc="-1" strike="noStrike">
                <a:solidFill>
                  <a:srgbClr val="0d1b2a"/>
                </a:solidFill>
                <a:latin typeface="Aptos"/>
              </a:rPr>
              <a:t>The most important conceptual improvement is to separate hallucination from factuality when evaluating models.</a:t>
            </a:r>
            <a:endParaRPr b="0" lang="en-US" sz="11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7"/>
          <p:cNvSpPr/>
          <p:nvPr/>
        </p:nvSpPr>
        <p:spPr>
          <a:xfrm>
            <a:off x="1143000" y="2541960"/>
            <a:ext cx="2005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3a5f"/>
                </a:solidFill>
                <a:latin typeface="Aptos"/>
              </a:rPr>
              <a:t>3.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8"/>
          <p:cNvSpPr/>
          <p:nvPr/>
        </p:nvSpPr>
        <p:spPr>
          <a:xfrm>
            <a:off x="1417320" y="2523600"/>
            <a:ext cx="63543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40" spc="-1" strike="noStrike">
                <a:solidFill>
                  <a:srgbClr val="0d1b2a"/>
                </a:solidFill>
                <a:latin typeface="Aptos"/>
              </a:rPr>
              <a:t>Prompting helps, but stronger reliability comes from hybrid mitigation: retrieval, reasoning, verification, and alignment together.</a:t>
            </a:r>
            <a:endParaRPr b="0" lang="en-US" sz="11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9"/>
          <p:cNvSpPr/>
          <p:nvPr/>
        </p:nvSpPr>
        <p:spPr>
          <a:xfrm>
            <a:off x="1143000" y="3072240"/>
            <a:ext cx="2005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3a5f"/>
                </a:solidFill>
                <a:latin typeface="Aptos"/>
              </a:rPr>
              <a:t>4.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10"/>
          <p:cNvSpPr/>
          <p:nvPr/>
        </p:nvSpPr>
        <p:spPr>
          <a:xfrm>
            <a:off x="1417320" y="3054240"/>
            <a:ext cx="63543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40" spc="-1" strike="noStrike">
                <a:solidFill>
                  <a:srgbClr val="0d1b2a"/>
                </a:solidFill>
                <a:latin typeface="Aptos"/>
              </a:rPr>
              <a:t>Benchmark design is now a core research problem because static sets saturate and mislead progress claims.</a:t>
            </a:r>
            <a:endParaRPr b="0" lang="en-US" sz="11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11"/>
          <p:cNvSpPr/>
          <p:nvPr/>
        </p:nvSpPr>
        <p:spPr>
          <a:xfrm>
            <a:off x="1143000" y="3602880"/>
            <a:ext cx="2005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3a5f"/>
                </a:solidFill>
                <a:latin typeface="Aptos"/>
              </a:rPr>
              <a:t>5.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12"/>
          <p:cNvSpPr/>
          <p:nvPr/>
        </p:nvSpPr>
        <p:spPr>
          <a:xfrm>
            <a:off x="1417320" y="3584520"/>
            <a:ext cx="63543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40" spc="-1" strike="noStrike">
                <a:solidFill>
                  <a:srgbClr val="0d1b2a"/>
                </a:solidFill>
                <a:latin typeface="Aptos"/>
              </a:rPr>
              <a:t>For high-risk use, the best strategy is not “make the model always answer,” but “ground, verify, and abstain when needed.”</a:t>
            </a:r>
            <a:endParaRPr b="0" lang="en-US" sz="11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13"/>
          <p:cNvSpPr/>
          <p:nvPr/>
        </p:nvSpPr>
        <p:spPr>
          <a:xfrm>
            <a:off x="383760" y="4645080"/>
            <a:ext cx="8229600" cy="360"/>
          </a:xfrm>
          <a:prstGeom prst="line">
            <a:avLst/>
          </a:prstGeom>
          <a:ln w="127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14"/>
          <p:cNvSpPr/>
          <p:nvPr/>
        </p:nvSpPr>
        <p:spPr>
          <a:xfrm>
            <a:off x="384120" y="4690800"/>
            <a:ext cx="75888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Controlling Hallucinations in LLMs · UNICAMP 2026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15"/>
          <p:cNvSpPr/>
          <p:nvPr/>
        </p:nvSpPr>
        <p:spPr>
          <a:xfrm>
            <a:off x="8229600" y="4663440"/>
            <a:ext cx="365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6b9a"/>
                </a:solidFill>
                <a:latin typeface="Aptos"/>
                <a:ea typeface="Aptos"/>
              </a:rPr>
              <a:t>15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25"/>
          <p:cNvSpPr/>
          <p:nvPr/>
        </p:nvSpPr>
        <p:spPr>
          <a:xfrm>
            <a:off x="5029200" y="0"/>
            <a:ext cx="4113360" cy="5142240"/>
          </a:xfrm>
          <a:prstGeom prst="rect">
            <a:avLst/>
          </a:prstGeom>
          <a:solidFill>
            <a:srgbClr val="0d1b2a"/>
          </a:solidFill>
          <a:ln w="126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13" name="Text 43"/>
          <p:cNvSpPr/>
          <p:nvPr/>
        </p:nvSpPr>
        <p:spPr>
          <a:xfrm>
            <a:off x="457200" y="365760"/>
            <a:ext cx="43876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References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44"/>
          <p:cNvSpPr/>
          <p:nvPr/>
        </p:nvSpPr>
        <p:spPr>
          <a:xfrm>
            <a:off x="457200" y="914400"/>
            <a:ext cx="43876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Main survey sources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27"/>
          <p:cNvSpPr/>
          <p:nvPr/>
        </p:nvSpPr>
        <p:spPr>
          <a:xfrm>
            <a:off x="5166360" y="457200"/>
            <a:ext cx="3747600" cy="6843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16" name="Shape 28"/>
          <p:cNvSpPr/>
          <p:nvPr/>
        </p:nvSpPr>
        <p:spPr>
          <a:xfrm>
            <a:off x="5166360" y="457200"/>
            <a:ext cx="62640" cy="68436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17" name="Text 45"/>
          <p:cNvSpPr/>
          <p:nvPr/>
        </p:nvSpPr>
        <p:spPr>
          <a:xfrm>
            <a:off x="5321880" y="475560"/>
            <a:ext cx="347328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ALANSARI, A.; LUQMAN, H. Large Language Models Hallucination: A Comprehensive Survey. arXiv:2510.06265, 2025.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29"/>
          <p:cNvSpPr/>
          <p:nvPr/>
        </p:nvSpPr>
        <p:spPr>
          <a:xfrm>
            <a:off x="5166360" y="1216080"/>
            <a:ext cx="3747600" cy="6843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19" name="Shape 30"/>
          <p:cNvSpPr/>
          <p:nvPr/>
        </p:nvSpPr>
        <p:spPr>
          <a:xfrm>
            <a:off x="5166360" y="1216080"/>
            <a:ext cx="62640" cy="68436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20" name="Text 46"/>
          <p:cNvSpPr/>
          <p:nvPr/>
        </p:nvSpPr>
        <p:spPr>
          <a:xfrm>
            <a:off x="5321880" y="1234440"/>
            <a:ext cx="347328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HUANG, L. et al. A Survey on Hallucination in LLMs: Principles, Taxonomy, Challenges. ACM Transactions on Information Systems, 2024.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31"/>
          <p:cNvSpPr/>
          <p:nvPr/>
        </p:nvSpPr>
        <p:spPr>
          <a:xfrm>
            <a:off x="5166360" y="1974960"/>
            <a:ext cx="3747600" cy="6843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22" name="Shape 32"/>
          <p:cNvSpPr/>
          <p:nvPr/>
        </p:nvSpPr>
        <p:spPr>
          <a:xfrm>
            <a:off x="5166360" y="1974960"/>
            <a:ext cx="62640" cy="68436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23" name="Text 47"/>
          <p:cNvSpPr/>
          <p:nvPr/>
        </p:nvSpPr>
        <p:spPr>
          <a:xfrm>
            <a:off x="5321880" y="1993320"/>
            <a:ext cx="347328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MDPI survey: From Illusion to Insight: A Taxonomic Survey of Hallucination Mitigation. AI Systems, 6(10), 2025.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33"/>
          <p:cNvSpPr/>
          <p:nvPr/>
        </p:nvSpPr>
        <p:spPr>
          <a:xfrm>
            <a:off x="5166360" y="2734200"/>
            <a:ext cx="3747600" cy="6843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25" name="Shape 34"/>
          <p:cNvSpPr/>
          <p:nvPr/>
        </p:nvSpPr>
        <p:spPr>
          <a:xfrm>
            <a:off x="5166360" y="2734200"/>
            <a:ext cx="62640" cy="68436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26" name="Text 48"/>
          <p:cNvSpPr/>
          <p:nvPr/>
        </p:nvSpPr>
        <p:spPr>
          <a:xfrm>
            <a:off x="5321880" y="2752200"/>
            <a:ext cx="347328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RAG survey: Mitigating Hallucination in LLMs: RAG, Reasoning and Agentic Systems. arXiv:2510.24476, 2025.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35"/>
          <p:cNvSpPr/>
          <p:nvPr/>
        </p:nvSpPr>
        <p:spPr>
          <a:xfrm>
            <a:off x="5166360" y="3493080"/>
            <a:ext cx="3747600" cy="6843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28" name="Shape 36"/>
          <p:cNvSpPr/>
          <p:nvPr/>
        </p:nvSpPr>
        <p:spPr>
          <a:xfrm>
            <a:off x="5166360" y="3493080"/>
            <a:ext cx="62640" cy="68436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29" name="Text 49"/>
          <p:cNvSpPr/>
          <p:nvPr/>
        </p:nvSpPr>
        <p:spPr>
          <a:xfrm>
            <a:off x="5321880" y="3511440"/>
            <a:ext cx="347328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ANH-HOANG et al. Survey and Analysis of Hallucinations: Attribution to Prompting or Model Behavior. Frontiers in AI, 2025.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37"/>
          <p:cNvSpPr/>
          <p:nvPr/>
        </p:nvSpPr>
        <p:spPr>
          <a:xfrm>
            <a:off x="5166360" y="4251960"/>
            <a:ext cx="3747600" cy="6843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31" name="Shape 38"/>
          <p:cNvSpPr/>
          <p:nvPr/>
        </p:nvSpPr>
        <p:spPr>
          <a:xfrm>
            <a:off x="5166360" y="4251960"/>
            <a:ext cx="62640" cy="68436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32" name="Text 50"/>
          <p:cNvSpPr/>
          <p:nvPr/>
        </p:nvSpPr>
        <p:spPr>
          <a:xfrm>
            <a:off x="5321880" y="4270320"/>
            <a:ext cx="347328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BANG, Y. et al. HalluLens: LLM Hallucination Benchmark. arXiv:2504.17550, 2025.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LibreOffice/24.2.5.2$Windows_X86_64 LibreOffice_project/bffef4ea93e59bebbeaf7f431bb02b1a39ee8a59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2026-04-14T15:17:11Z</dcterms:created>
  <dc:creator>OpenAI</dc:creator>
  <dc:description/>
  <dc:language>en-US</dc:language>
  <cp:lastModifiedBy/>
  <dcterms:modified xsi:type="dcterms:W3CDTF">2026-04-14T13:58:23Z</dcterms:modified>
  <cp:revision>5</cp:revision>
  <dc:subject>Controlling Hallucinations in LLMs</dc:subject>
  <dc:title>Controlling Hallucinations in LLMs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