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E7CA5E6-3C7A-4023-AB76-41FD4016094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91F0BA-3225-4115-8B08-3B5F75227D3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521D76-9F17-46D5-BC25-076F1B62B76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EDB633-BF44-41AD-A6B5-73C6F9A3F32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B9FA4D-6AD1-4876-9C98-1C5CA75EA06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A016D6-4899-4E38-9649-4A923B06D4D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C5D71-D379-4EA8-B4EF-95F3FAEE59E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3B8627-39CD-4783-9BB6-32C73498208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B7D5D2-0760-47C8-A52C-334F57ED3B7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F11578-C4B0-4348-822D-EF0664131E6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0F3BA4-4D98-453E-AE72-368E5D34FBA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77EADC-B2D3-48BA-B59B-472A9D0DBD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1A8CC8-FECB-4BF6-9D82-0E63C47DB00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4C6294-12A4-4775-93D5-E83BF973AE8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CEA031-5767-488F-93B6-AF2FA9DF955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576A4A-6C3E-46AE-8961-1D816FF0C10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8D5FA4-04C5-4590-AF55-488942F82E1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D19697-7A09-405A-9154-24F4ECD6EC4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CB0F22-7AE9-4667-AEAE-B5EC2744E6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29E5B0-4074-4121-94DE-7DD39457DCA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F1092D-839E-462F-8FC1-CE167B23209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5012B4-D959-48BC-B251-F5AEBF561A5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8880" cy="85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image" Target="../media/image5.png"/><Relationship Id="rId9" Type="http://schemas.openxmlformats.org/officeDocument/2006/relationships/image" Target="../media/image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3473640" cy="514260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1188720" y="640080"/>
            <a:ext cx="1096200" cy="1096200"/>
          </a:xfrm>
          <a:prstGeom prst="rect">
            <a:avLst/>
          </a:prstGeom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3749040" y="914400"/>
            <a:ext cx="502812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Hallucinations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in LLMs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3749040" y="3017520"/>
            <a:ext cx="5028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 literature-based study of the state of the art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749040" y="3520440"/>
            <a:ext cx="4845240" cy="3564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" name="Text 4"/>
          <p:cNvSpPr/>
          <p:nvPr/>
        </p:nvSpPr>
        <p:spPr>
          <a:xfrm>
            <a:off x="3749040" y="370332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IA 376 – Generative Artificial Intelligence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201240" y="3200400"/>
            <a:ext cx="3016440" cy="300600"/>
          </a:xfrm>
          <a:prstGeom prst="rect">
            <a:avLst/>
          </a:prstGeom>
          <a:solidFill>
            <a:srgbClr val="1d9e75">
              <a:alpha val="60000"/>
            </a:srgbClr>
          </a:solidFill>
          <a:ln w="12600">
            <a:solidFill>
              <a:srgbClr val="1d9e75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9" name="Text 6"/>
          <p:cNvSpPr/>
          <p:nvPr/>
        </p:nvSpPr>
        <p:spPr>
          <a:xfrm>
            <a:off x="201240" y="3200400"/>
            <a:ext cx="3016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Hot topic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201240" y="3620880"/>
            <a:ext cx="3016440" cy="300600"/>
          </a:xfrm>
          <a:prstGeom prst="rect">
            <a:avLst/>
          </a:prstGeom>
          <a:solidFill>
            <a:srgbClr val="1d9e75">
              <a:alpha val="60000"/>
            </a:srgbClr>
          </a:solidFill>
          <a:ln w="12600">
            <a:solidFill>
              <a:srgbClr val="1d9e75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1" name="Text 8"/>
          <p:cNvSpPr/>
          <p:nvPr/>
        </p:nvSpPr>
        <p:spPr>
          <a:xfrm>
            <a:off x="201240" y="3620880"/>
            <a:ext cx="3016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NLP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201240" y="4041720"/>
            <a:ext cx="3016440" cy="300600"/>
          </a:xfrm>
          <a:prstGeom prst="rect">
            <a:avLst/>
          </a:prstGeom>
          <a:solidFill>
            <a:srgbClr val="1d9e75">
              <a:alpha val="60000"/>
            </a:srgbClr>
          </a:solidFill>
          <a:ln w="12600">
            <a:solidFill>
              <a:srgbClr val="1d9e75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201240" y="4041720"/>
            <a:ext cx="30164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Reliability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3749040" y="409212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Charles Cavalcante Alcarde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3749040" y="429768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Luis Felipe da Silva Carlos Pereira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3749040" y="4503600"/>
            <a:ext cx="5028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Pedro Henrique Guerra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11480" y="274320"/>
            <a:ext cx="63000" cy="5932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What is hallucination in an LLM?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0" name="Text 3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4"/>
          <p:cNvSpPr/>
          <p:nvPr/>
        </p:nvSpPr>
        <p:spPr>
          <a:xfrm>
            <a:off x="411480" y="1143000"/>
            <a:ext cx="8319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" name="Shape 5"/>
          <p:cNvSpPr/>
          <p:nvPr/>
        </p:nvSpPr>
        <p:spPr>
          <a:xfrm>
            <a:off x="411480" y="1143000"/>
            <a:ext cx="63000" cy="68472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" name="Text 6"/>
          <p:cNvSpPr/>
          <p:nvPr/>
        </p:nvSpPr>
        <p:spPr>
          <a:xfrm>
            <a:off x="567000" y="1161360"/>
            <a:ext cx="8045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Fluent and syntactically correct text, but factually incorrect or completely fabricated — generated with apparent confidence.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411480" y="1965960"/>
            <a:ext cx="3930840" cy="2604960"/>
          </a:xfrm>
          <a:prstGeom prst="rect">
            <a:avLst/>
          </a:prstGeom>
          <a:solidFill>
            <a:srgbClr val="1a2e3f"/>
          </a:solidFill>
          <a:ln w="12600">
            <a:solidFill>
              <a:srgbClr val="1a2e3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411480" y="1965960"/>
            <a:ext cx="3930840" cy="346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" name="Text 9"/>
          <p:cNvSpPr/>
          <p:nvPr/>
        </p:nvSpPr>
        <p:spPr>
          <a:xfrm>
            <a:off x="502920" y="196596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Prompt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48640" y="2377440"/>
            <a:ext cx="365652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"Who wrote the novel Pride and Prejudice?"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4663440" y="1965960"/>
            <a:ext cx="4068000" cy="2604960"/>
          </a:xfrm>
          <a:prstGeom prst="rect">
            <a:avLst/>
          </a:prstGeom>
          <a:solidFill>
            <a:srgbClr val="2a1818"/>
          </a:solidFill>
          <a:ln w="12600">
            <a:solidFill>
              <a:srgbClr val="2a1818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4663440" y="1965960"/>
            <a:ext cx="4068000" cy="346320"/>
          </a:xfrm>
          <a:prstGeom prst="rect">
            <a:avLst/>
          </a:prstGeom>
          <a:solidFill>
            <a:srgbClr val="3d1a1a"/>
          </a:solidFill>
          <a:ln w="12600">
            <a:solidFill>
              <a:srgbClr val="3d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4754880" y="196596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LLM output ⚠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4754880" y="2377440"/>
            <a:ext cx="37479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"The novel was written by Charles Dickens, published in 1813."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4663440" y="3383280"/>
            <a:ext cx="4068000" cy="35640"/>
          </a:xfrm>
          <a:prstGeom prst="rect">
            <a:avLst/>
          </a:prstGeom>
          <a:solidFill>
            <a:srgbClr val="6a2020"/>
          </a:solidFill>
          <a:ln w="12600">
            <a:solidFill>
              <a:srgbClr val="6a2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4754880" y="3493080"/>
            <a:ext cx="3747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Dickens did not write this work. The author is Jane Austen.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4297680" y="3063240"/>
            <a:ext cx="318960" cy="31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Why is this a hot topic?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Explosive research growth and real stakes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9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411480" y="1188720"/>
            <a:ext cx="2604960" cy="16905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594360" y="132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2" name="Text 6"/>
          <p:cNvSpPr/>
          <p:nvPr/>
        </p:nvSpPr>
        <p:spPr>
          <a:xfrm>
            <a:off x="1188720" y="128016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300+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48640" y="1993320"/>
            <a:ext cx="2330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mitigation studies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mapped in 2025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3291840" y="1188720"/>
            <a:ext cx="2604960" cy="16905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3474720" y="132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6" name="Text 9"/>
          <p:cNvSpPr/>
          <p:nvPr/>
        </p:nvSpPr>
        <p:spPr>
          <a:xfrm>
            <a:off x="4069080" y="128016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3429000" y="1993320"/>
            <a:ext cx="2330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main categories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of strategies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6172200" y="1188720"/>
            <a:ext cx="2604960" cy="16905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9" name="Image 2" descr="preencoded.png"/>
          <p:cNvPicPr/>
          <p:nvPr/>
        </p:nvPicPr>
        <p:blipFill>
          <a:blip r:embed="rId3"/>
          <a:stretch/>
        </p:blipFill>
        <p:spPr>
          <a:xfrm>
            <a:off x="6355080" y="132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60" name="Text 12"/>
          <p:cNvSpPr/>
          <p:nvPr/>
        </p:nvSpPr>
        <p:spPr>
          <a:xfrm>
            <a:off x="6949440" y="1280160"/>
            <a:ext cx="16448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≥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309360" y="1993320"/>
            <a:ext cx="2330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critical domains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at risk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411480" y="3063240"/>
            <a:ext cx="8319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Domains where hallucinations cause real harm: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411480" y="3429000"/>
            <a:ext cx="1553400" cy="474480"/>
          </a:xfrm>
          <a:prstGeom prst="roundRect">
            <a:avLst>
              <a:gd name="adj" fmla="val 11538"/>
            </a:avLst>
          </a:prstGeom>
          <a:solidFill>
            <a:srgbClr val="b04040"/>
          </a:solidFill>
          <a:ln w="12600">
            <a:solidFill>
              <a:srgbClr val="b04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411480" y="3429000"/>
            <a:ext cx="1553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Healthcare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7"/>
          <p:cNvSpPr/>
          <p:nvPr/>
        </p:nvSpPr>
        <p:spPr>
          <a:xfrm>
            <a:off x="2094120" y="3429000"/>
            <a:ext cx="1553400" cy="474480"/>
          </a:xfrm>
          <a:prstGeom prst="roundRect">
            <a:avLst>
              <a:gd name="adj" fmla="val 11538"/>
            </a:avLst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2094120" y="3429000"/>
            <a:ext cx="1553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Law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3776400" y="3429000"/>
            <a:ext cx="1553400" cy="474480"/>
          </a:xfrm>
          <a:prstGeom prst="roundRect">
            <a:avLst>
              <a:gd name="adj" fmla="val 11538"/>
            </a:avLst>
          </a:prstGeom>
          <a:solidFill>
            <a:srgbClr val="7a6b1a"/>
          </a:solidFill>
          <a:ln w="12600">
            <a:solidFill>
              <a:srgbClr val="7a6b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3776400" y="3429000"/>
            <a:ext cx="1553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Finance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1"/>
          <p:cNvSpPr/>
          <p:nvPr/>
        </p:nvSpPr>
        <p:spPr>
          <a:xfrm>
            <a:off x="5459040" y="3429000"/>
            <a:ext cx="1553400" cy="474480"/>
          </a:xfrm>
          <a:prstGeom prst="roundRect">
            <a:avLst>
              <a:gd name="adj" fmla="val 11538"/>
            </a:avLst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5459040" y="3429000"/>
            <a:ext cx="1553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Education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3"/>
          <p:cNvSpPr/>
          <p:nvPr/>
        </p:nvSpPr>
        <p:spPr>
          <a:xfrm>
            <a:off x="7141320" y="3429000"/>
            <a:ext cx="1553400" cy="474480"/>
          </a:xfrm>
          <a:prstGeom prst="roundRect">
            <a:avLst>
              <a:gd name="adj" fmla="val 11538"/>
            </a:avLst>
          </a:prstGeom>
          <a:solidFill>
            <a:srgbClr val="5a3080"/>
          </a:solidFill>
          <a:ln w="12600">
            <a:solidFill>
              <a:srgbClr val="5a3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2" name="Text 24"/>
          <p:cNvSpPr/>
          <p:nvPr/>
        </p:nvSpPr>
        <p:spPr>
          <a:xfrm>
            <a:off x="7141320" y="3429000"/>
            <a:ext cx="1553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Safety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25"/>
          <p:cNvSpPr/>
          <p:nvPr/>
        </p:nvSpPr>
        <p:spPr>
          <a:xfrm>
            <a:off x="411480" y="406908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4" name="Shape 26"/>
          <p:cNvSpPr/>
          <p:nvPr/>
        </p:nvSpPr>
        <p:spPr>
          <a:xfrm>
            <a:off x="411480" y="4069080"/>
            <a:ext cx="63000" cy="657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5" name="Text 27"/>
          <p:cNvSpPr/>
          <p:nvPr/>
        </p:nvSpPr>
        <p:spPr>
          <a:xfrm>
            <a:off x="567000" y="4087440"/>
            <a:ext cx="804564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"Hallucination compromises the reliability and trustworthiness of LLMs, posing potential risks in real-world applications." — Alansari &amp; Luqman, arXiv 2510.06265 (2025)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411480" y="274320"/>
            <a:ext cx="63000" cy="5932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7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Survey 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79" name="Text 3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411480" y="123444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411480" y="1234440"/>
            <a:ext cx="63000" cy="13705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82" name="Text 6"/>
          <p:cNvSpPr/>
          <p:nvPr/>
        </p:nvSpPr>
        <p:spPr>
          <a:xfrm>
            <a:off x="576000" y="139896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76000" y="180144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Taxonomy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576000" y="216720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Types of hallucination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3264480" y="123444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3264480" y="1234440"/>
            <a:ext cx="63000" cy="137052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3429000" y="139896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3429000" y="180144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Causes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3429000" y="216720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By stage of the LLM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6117480" y="123444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6117480" y="1234440"/>
            <a:ext cx="63000" cy="1370520"/>
          </a:xfrm>
          <a:prstGeom prst="rect">
            <a:avLst/>
          </a:prstGeom>
          <a:solidFill>
            <a:srgbClr val="4a8ec4"/>
          </a:solidFill>
          <a:ln w="12600">
            <a:solidFill>
              <a:srgbClr val="4a8e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6282000" y="139896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6282000" y="180144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Detection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6282000" y="216720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Techniques and metrics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411480" y="288036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411480" y="2880360"/>
            <a:ext cx="63000" cy="137052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576000" y="304488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576000" y="344736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576000" y="381312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6 categories of strategies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3264480" y="288036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01" name="Shape 25"/>
          <p:cNvSpPr/>
          <p:nvPr/>
        </p:nvSpPr>
        <p:spPr>
          <a:xfrm>
            <a:off x="3264480" y="2880360"/>
            <a:ext cx="63000" cy="137052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02" name="Text 26"/>
          <p:cNvSpPr/>
          <p:nvPr/>
        </p:nvSpPr>
        <p:spPr>
          <a:xfrm>
            <a:off x="3429000" y="304488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7"/>
          <p:cNvSpPr/>
          <p:nvPr/>
        </p:nvSpPr>
        <p:spPr>
          <a:xfrm>
            <a:off x="3429000" y="344736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Benchmarks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8"/>
          <p:cNvSpPr/>
          <p:nvPr/>
        </p:nvSpPr>
        <p:spPr>
          <a:xfrm>
            <a:off x="3429000" y="381312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Evaluation and limitations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29"/>
          <p:cNvSpPr/>
          <p:nvPr/>
        </p:nvSpPr>
        <p:spPr>
          <a:xfrm>
            <a:off x="6117480" y="2880360"/>
            <a:ext cx="2604960" cy="13705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06" name="Shape 30"/>
          <p:cNvSpPr/>
          <p:nvPr/>
        </p:nvSpPr>
        <p:spPr>
          <a:xfrm>
            <a:off x="6117480" y="2880360"/>
            <a:ext cx="63000" cy="1370520"/>
          </a:xfrm>
          <a:prstGeom prst="rect">
            <a:avLst/>
          </a:prstGeom>
          <a:solidFill>
            <a:srgbClr val="70a050"/>
          </a:solidFill>
          <a:ln w="12600">
            <a:solidFill>
              <a:srgbClr val="70a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07" name="Text 31"/>
          <p:cNvSpPr/>
          <p:nvPr/>
        </p:nvSpPr>
        <p:spPr>
          <a:xfrm>
            <a:off x="6282000" y="3044880"/>
            <a:ext cx="639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06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32"/>
          <p:cNvSpPr/>
          <p:nvPr/>
        </p:nvSpPr>
        <p:spPr>
          <a:xfrm>
            <a:off x="6282000" y="3447360"/>
            <a:ext cx="22849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Open challenges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3"/>
          <p:cNvSpPr/>
          <p:nvPr/>
        </p:nvSpPr>
        <p:spPr>
          <a:xfrm>
            <a:off x="6282000" y="3813120"/>
            <a:ext cx="2284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Frontiers of the field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Types of hallucination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Two main classification dimensions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411480" y="114300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DIMENSION 1 — Relation to the reference source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411480" y="1463040"/>
            <a:ext cx="3839400" cy="1507680"/>
          </a:xfrm>
          <a:prstGeom prst="rect">
            <a:avLst/>
          </a:prstGeom>
          <a:solidFill>
            <a:srgbClr val="1a2a1f"/>
          </a:solidFill>
          <a:ln w="12600">
            <a:solidFill>
              <a:srgbClr val="1a2a1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11480" y="1463040"/>
            <a:ext cx="3839400" cy="34632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502920" y="1463040"/>
            <a:ext cx="3656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Intrinsic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48640" y="1874520"/>
            <a:ext cx="356508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Directly contradicts the reference source.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Example: attributing Pride and Prejudice to Charles Dickens when the novel is by Jane Austen.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4572000" y="1463040"/>
            <a:ext cx="4159440" cy="1507680"/>
          </a:xfrm>
          <a:prstGeom prst="rect">
            <a:avLst/>
          </a:prstGeom>
          <a:solidFill>
            <a:srgbClr val="1f1a2a"/>
          </a:solidFill>
          <a:ln w="12600">
            <a:solidFill>
              <a:srgbClr val="1f1a2a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4572000" y="1463040"/>
            <a:ext cx="4159440" cy="34632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4663440" y="1463040"/>
            <a:ext cx="3930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Extrinsic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4709160" y="1874520"/>
            <a:ext cx="383940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Adds information absent from the source — it may even be correct, but it is not verifiable from the given context.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411480" y="315468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DIMENSION 2 — Relation to world knowledge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411480" y="3474720"/>
            <a:ext cx="4022280" cy="1297440"/>
          </a:xfrm>
          <a:prstGeom prst="rect">
            <a:avLst/>
          </a:prstGeom>
          <a:solidFill>
            <a:srgbClr val="7a3020"/>
          </a:solidFill>
          <a:ln w="12600">
            <a:solidFill>
              <a:srgbClr val="7a3020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548640" y="352044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Factual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548640" y="3913560"/>
            <a:ext cx="38394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Diverges from real-world facts (e.g., dates, authors, historical events)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4782240" y="3474720"/>
            <a:ext cx="3976560" cy="12974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4919400" y="3520440"/>
            <a:ext cx="379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Faithful (Faithfulness)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4919400" y="3913560"/>
            <a:ext cx="37936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Contradicts the input context itself (e.g., a summary that denies the original text)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Hallucination ≠ Factuality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Critical conceptual distinction for the field — HalluLens (2025)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411480" y="1188720"/>
            <a:ext cx="4205160" cy="25592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411480" y="1188720"/>
            <a:ext cx="4205160" cy="437760"/>
          </a:xfrm>
          <a:prstGeom prst="rect">
            <a:avLst/>
          </a:prstGeom>
          <a:solidFill>
            <a:srgbClr val="7a3020"/>
          </a:solidFill>
          <a:ln w="12600">
            <a:solidFill>
              <a:srgbClr val="7a3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48640" y="1188720"/>
            <a:ext cx="3930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Hallucination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548640" y="173736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Fabricated information with no basis in the context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548640" y="234072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Mitigated by: abstention, refusal when uncertain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48640" y="294444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Benchmark: HalluLens, HaluEval 2.0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4873680" y="1188720"/>
            <a:ext cx="4205160" cy="25592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4873680" y="1188720"/>
            <a:ext cx="4205160" cy="43776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5010840" y="1188720"/>
            <a:ext cx="3930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Factuality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010840" y="173736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Divergence from verifiable world facts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010840" y="234072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Mitigated by: RAG, knowledge injection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5010840" y="2944440"/>
            <a:ext cx="38851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Benchmark: TruthfulQA (≠ hallucination!)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4553640" y="1188720"/>
            <a:ext cx="35640" cy="2559240"/>
          </a:xfrm>
          <a:prstGeom prst="rect">
            <a:avLst/>
          </a:prstGeom>
          <a:solidFill>
            <a:srgbClr val="8ba5bc">
              <a:alpha val="40000"/>
            </a:srgbClr>
          </a:solidFill>
          <a:ln w="12600">
            <a:solidFill>
              <a:srgbClr val="8ba5b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411480" y="3886200"/>
            <a:ext cx="8319960" cy="8218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411480" y="3886200"/>
            <a:ext cx="63000" cy="82188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594360" y="39960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152" name="Text 20"/>
          <p:cNvSpPr/>
          <p:nvPr/>
        </p:nvSpPr>
        <p:spPr>
          <a:xfrm>
            <a:off x="1051560" y="3904560"/>
            <a:ext cx="7497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TruthfulQA is often cited as a hallucination benchmark, but it measures factuality — these are different concepts with different mitigation strategies. (HalluLens, Bang et al., 2025)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Causes — by stage of the LLM pipeline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Alansari &amp; Luqman (arXiv 2510.06265, 2025)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411480" y="1188720"/>
            <a:ext cx="1507680" cy="2559240"/>
          </a:xfrm>
          <a:prstGeom prst="rect">
            <a:avLst/>
          </a:prstGeom>
          <a:solidFill>
            <a:srgbClr val="4a6b9a">
              <a:alpha val="80000"/>
            </a:srgbClr>
          </a:solidFill>
          <a:ln w="12600">
            <a:solidFill>
              <a:srgbClr val="4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411480" y="1188720"/>
            <a:ext cx="1507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411480" y="1645920"/>
            <a:ext cx="1507680" cy="35640"/>
          </a:xfrm>
          <a:prstGeom prst="rect">
            <a:avLst/>
          </a:prstGeom>
          <a:solidFill>
            <a:srgbClr val="4a6b9a">
              <a:alpha val="70000"/>
            </a:srgbClr>
          </a:solidFill>
          <a:ln w="12600">
            <a:solidFill>
              <a:srgbClr val="4a6b9a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411480" y="1737360"/>
            <a:ext cx="15076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502920" y="2176200"/>
            <a:ext cx="1324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Noise, bias, outdated information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1929240" y="2340720"/>
            <a:ext cx="15444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2084760" y="1188720"/>
            <a:ext cx="1507680" cy="2559240"/>
          </a:xfrm>
          <a:prstGeom prst="rect">
            <a:avLst/>
          </a:prstGeom>
          <a:solidFill>
            <a:srgbClr val="0f6e56">
              <a:alpha val="80000"/>
            </a:srgbClr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2084760" y="1188720"/>
            <a:ext cx="1507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2084760" y="1645920"/>
            <a:ext cx="1507680" cy="35640"/>
          </a:xfrm>
          <a:prstGeom prst="rect">
            <a:avLst/>
          </a:prstGeom>
          <a:solidFill>
            <a:srgbClr val="0f6e56">
              <a:alpha val="70000"/>
            </a:srgbClr>
          </a:solidFill>
          <a:ln w="12600">
            <a:solidFill>
              <a:srgbClr val="0f6e56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2084760" y="1737360"/>
            <a:ext cx="15076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Pretraining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2176200" y="2176200"/>
            <a:ext cx="1324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Fluency &gt; factuality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3602880" y="2340720"/>
            <a:ext cx="15444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3758040" y="1188720"/>
            <a:ext cx="1507680" cy="2559240"/>
          </a:xfrm>
          <a:prstGeom prst="rect">
            <a:avLst/>
          </a:prstGeom>
          <a:solidFill>
            <a:srgbClr val="f0a500">
              <a:alpha val="80000"/>
            </a:srgbClr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3758040" y="1188720"/>
            <a:ext cx="1507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3758040" y="1645920"/>
            <a:ext cx="1507680" cy="35640"/>
          </a:xfrm>
          <a:prstGeom prst="rect">
            <a:avLst/>
          </a:prstGeom>
          <a:solidFill>
            <a:srgbClr val="f0a500">
              <a:alpha val="70000"/>
            </a:srgbClr>
          </a:solidFill>
          <a:ln w="12600">
            <a:solidFill>
              <a:srgbClr val="f0a50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3758040" y="1737360"/>
            <a:ext cx="15076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Fine-tuning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3849480" y="2176200"/>
            <a:ext cx="1324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Domain overfitting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22"/>
          <p:cNvSpPr/>
          <p:nvPr/>
        </p:nvSpPr>
        <p:spPr>
          <a:xfrm>
            <a:off x="5276160" y="2340720"/>
            <a:ext cx="15444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5431680" y="1188720"/>
            <a:ext cx="1507680" cy="2559240"/>
          </a:xfrm>
          <a:prstGeom prst="rect">
            <a:avLst/>
          </a:prstGeom>
          <a:solidFill>
            <a:srgbClr val="e06030">
              <a:alpha val="80000"/>
            </a:srgbClr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5431680" y="1188720"/>
            <a:ext cx="1507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5431680" y="1645920"/>
            <a:ext cx="1507680" cy="35640"/>
          </a:xfrm>
          <a:prstGeom prst="rect">
            <a:avLst/>
          </a:prstGeom>
          <a:solidFill>
            <a:srgbClr val="e06030">
              <a:alpha val="70000"/>
            </a:srgbClr>
          </a:solidFill>
          <a:ln w="12600">
            <a:solidFill>
              <a:srgbClr val="e06030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5431680" y="1737360"/>
            <a:ext cx="15076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RLHF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5523120" y="2176200"/>
            <a:ext cx="1324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Confidence without accuracy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6949440" y="2340720"/>
            <a:ext cx="15444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82" name="Shape 29"/>
          <p:cNvSpPr/>
          <p:nvPr/>
        </p:nvSpPr>
        <p:spPr>
          <a:xfrm>
            <a:off x="7104960" y="1188720"/>
            <a:ext cx="1507680" cy="2559240"/>
          </a:xfrm>
          <a:prstGeom prst="rect">
            <a:avLst/>
          </a:prstGeom>
          <a:solidFill>
            <a:srgbClr val="534ab7">
              <a:alpha val="80000"/>
            </a:srgbClr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83" name="Text 30"/>
          <p:cNvSpPr/>
          <p:nvPr/>
        </p:nvSpPr>
        <p:spPr>
          <a:xfrm>
            <a:off x="7104960" y="1188720"/>
            <a:ext cx="1507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31"/>
          <p:cNvSpPr/>
          <p:nvPr/>
        </p:nvSpPr>
        <p:spPr>
          <a:xfrm>
            <a:off x="7104960" y="1645920"/>
            <a:ext cx="1507680" cy="35640"/>
          </a:xfrm>
          <a:prstGeom prst="rect">
            <a:avLst/>
          </a:prstGeom>
          <a:solidFill>
            <a:srgbClr val="534ab7">
              <a:alpha val="70000"/>
            </a:srgbClr>
          </a:solidFill>
          <a:ln w="12600">
            <a:solidFill>
              <a:srgbClr val="534ab7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85" name="Text 32"/>
          <p:cNvSpPr/>
          <p:nvPr/>
        </p:nvSpPr>
        <p:spPr>
          <a:xfrm>
            <a:off x="7104960" y="1737360"/>
            <a:ext cx="150768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Inference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33"/>
          <p:cNvSpPr/>
          <p:nvPr/>
        </p:nvSpPr>
        <p:spPr>
          <a:xfrm>
            <a:off x="7196400" y="2176200"/>
            <a:ext cx="13248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Prompt, decoding, temp.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34"/>
          <p:cNvSpPr/>
          <p:nvPr/>
        </p:nvSpPr>
        <p:spPr>
          <a:xfrm>
            <a:off x="411480" y="3931920"/>
            <a:ext cx="8319960" cy="7761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88" name="Shape 35"/>
          <p:cNvSpPr/>
          <p:nvPr/>
        </p:nvSpPr>
        <p:spPr>
          <a:xfrm>
            <a:off x="411480" y="3931920"/>
            <a:ext cx="63000" cy="7761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89" name="Text 36"/>
          <p:cNvSpPr/>
          <p:nvPr/>
        </p:nvSpPr>
        <p:spPr>
          <a:xfrm>
            <a:off x="594360" y="3950280"/>
            <a:ext cx="80456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Formally, hallucination emerges when the model assigns higher probability P</a:t>
            </a:r>
            <a:r>
              <a:rPr b="0" lang="en-US" sz="1400" spc="-1" strike="noStrike" baseline="-8000">
                <a:solidFill>
                  <a:srgbClr val="ffffff"/>
                </a:solidFill>
                <a:latin typeface="Arial"/>
                <a:ea typeface="DejaVu Sans"/>
              </a:rPr>
              <a:t>θ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(y|x) to a factually incorrect sequence than to the correct one. The model optimizes fluency, not factuality.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RLHF paradox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"Alignment tax" — better alignment, higher risk of confident hallucination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411480" y="1188720"/>
            <a:ext cx="3839400" cy="2559240"/>
          </a:xfrm>
          <a:prstGeom prst="rect">
            <a:avLst/>
          </a:prstGeom>
          <a:solidFill>
            <a:srgbClr val="1a2e1a"/>
          </a:solidFill>
          <a:ln w="12600">
            <a:solidFill>
              <a:srgbClr val="1a2e1a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411480" y="1188720"/>
            <a:ext cx="3839400" cy="41040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502920" y="1188720"/>
            <a:ext cx="3656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RLHF — what works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548640" y="17190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199" name="Text 8"/>
          <p:cNvSpPr/>
          <p:nvPr/>
        </p:nvSpPr>
        <p:spPr>
          <a:xfrm>
            <a:off x="914400" y="17190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Aligns responses with human preferences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548640" y="21762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01" name="Text 9"/>
          <p:cNvSpPr/>
          <p:nvPr/>
        </p:nvSpPr>
        <p:spPr>
          <a:xfrm>
            <a:off x="914400" y="21762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Reduces toxic and offensive content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2" descr="preencoded.png"/>
          <p:cNvPicPr/>
          <p:nvPr/>
        </p:nvPicPr>
        <p:blipFill>
          <a:blip r:embed="rId3"/>
          <a:stretch/>
        </p:blipFill>
        <p:spPr>
          <a:xfrm>
            <a:off x="548640" y="26334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03" name="Text 10"/>
          <p:cNvSpPr/>
          <p:nvPr/>
        </p:nvSpPr>
        <p:spPr>
          <a:xfrm>
            <a:off x="914400" y="26334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Improves instruction-following and usefulness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" name="Image 3" descr="preencoded.png"/>
          <p:cNvPicPr/>
          <p:nvPr/>
        </p:nvPicPr>
        <p:blipFill>
          <a:blip r:embed="rId4"/>
          <a:stretch/>
        </p:blipFill>
        <p:spPr>
          <a:xfrm>
            <a:off x="548640" y="30906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05" name="Text 11"/>
          <p:cNvSpPr/>
          <p:nvPr/>
        </p:nvSpPr>
        <p:spPr>
          <a:xfrm>
            <a:off x="914400" y="30906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Foundation of InstructGPT and GPT-4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4526280" y="1188720"/>
            <a:ext cx="4205160" cy="2559240"/>
          </a:xfrm>
          <a:prstGeom prst="rect">
            <a:avLst/>
          </a:prstGeom>
          <a:solidFill>
            <a:srgbClr val="2e1a1a"/>
          </a:solidFill>
          <a:ln w="12600">
            <a:solidFill>
              <a:srgbClr val="2e1a1a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4526280" y="1188720"/>
            <a:ext cx="4205160" cy="41040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617720" y="1188720"/>
            <a:ext cx="40222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alignment tax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4" descr="preencoded.png"/>
          <p:cNvPicPr/>
          <p:nvPr/>
        </p:nvPicPr>
        <p:blipFill>
          <a:blip r:embed="rId5"/>
          <a:stretch/>
        </p:blipFill>
        <p:spPr>
          <a:xfrm>
            <a:off x="4617720" y="17190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10" name="Text 15"/>
          <p:cNvSpPr/>
          <p:nvPr/>
        </p:nvSpPr>
        <p:spPr>
          <a:xfrm>
            <a:off x="4983480" y="1719000"/>
            <a:ext cx="361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Prioritizes coherence and confidence over accuracy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5" descr="preencoded.png"/>
          <p:cNvPicPr/>
          <p:nvPr/>
        </p:nvPicPr>
        <p:blipFill>
          <a:blip r:embed="rId6"/>
          <a:stretch/>
        </p:blipFill>
        <p:spPr>
          <a:xfrm>
            <a:off x="4617720" y="21762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12" name="Text 16"/>
          <p:cNvSpPr/>
          <p:nvPr/>
        </p:nvSpPr>
        <p:spPr>
          <a:xfrm>
            <a:off x="4983480" y="2176200"/>
            <a:ext cx="361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May lose diverse pre-alignment abilities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6" descr="preencoded.png"/>
          <p:cNvPicPr/>
          <p:nvPr/>
        </p:nvPicPr>
        <p:blipFill>
          <a:blip r:embed="rId7"/>
          <a:stretch/>
        </p:blipFill>
        <p:spPr>
          <a:xfrm>
            <a:off x="4617720" y="26334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14" name="Text 17"/>
          <p:cNvSpPr/>
          <p:nvPr/>
        </p:nvSpPr>
        <p:spPr>
          <a:xfrm>
            <a:off x="4983480" y="2633400"/>
            <a:ext cx="361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Misalignment: trained to seem correct, not to be correct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5" name="Image 7" descr="preencoded.png"/>
          <p:cNvPicPr/>
          <p:nvPr/>
        </p:nvPicPr>
        <p:blipFill>
          <a:blip r:embed="rId8"/>
          <a:stretch/>
        </p:blipFill>
        <p:spPr>
          <a:xfrm>
            <a:off x="4617720" y="309060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216" name="Text 18"/>
          <p:cNvSpPr/>
          <p:nvPr/>
        </p:nvSpPr>
        <p:spPr>
          <a:xfrm>
            <a:off x="4983480" y="3090600"/>
            <a:ext cx="36108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Produces high-confidence hallucinations — worst case!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9"/>
          <p:cNvSpPr/>
          <p:nvPr/>
        </p:nvSpPr>
        <p:spPr>
          <a:xfrm>
            <a:off x="411480" y="3904560"/>
            <a:ext cx="8319960" cy="803520"/>
          </a:xfrm>
          <a:prstGeom prst="rect">
            <a:avLst/>
          </a:prstGeom>
          <a:solidFill>
            <a:srgbClr val="2a181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218" name="Image 8" descr="preencoded.png"/>
          <p:cNvPicPr/>
          <p:nvPr/>
        </p:nvPicPr>
        <p:blipFill>
          <a:blip r:embed="rId9"/>
          <a:stretch/>
        </p:blipFill>
        <p:spPr>
          <a:xfrm>
            <a:off x="594360" y="402336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219" name="Text 20"/>
          <p:cNvSpPr/>
          <p:nvPr/>
        </p:nvSpPr>
        <p:spPr>
          <a:xfrm>
            <a:off x="1097280" y="3931920"/>
            <a:ext cx="740556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High-confidence hallucinations (low entropy) are the critical scenario: metrics based on model uncertainty do not detect them. They require external verification.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Detection taxonomy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Five main categories of techniques (What is the reference?)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411480" y="118872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411480" y="1188720"/>
            <a:ext cx="63000" cy="65736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594360" y="12254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Retrieval-based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594360" y="1490400"/>
            <a:ext cx="7954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Checks claims against external sources or knowledge graphs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411480" y="193860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411480" y="1938600"/>
            <a:ext cx="63000" cy="65736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594360" y="197496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Uncertainty-based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594360" y="2240280"/>
            <a:ext cx="7954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Token entropy, calibration, semantic uncertainty (confabulations)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411480" y="268848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411480" y="2688480"/>
            <a:ext cx="63000" cy="65736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594360" y="272484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Embedding-based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594360" y="2990160"/>
            <a:ext cx="7954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HalluShift: distributions over internal states and attention layers. AUCROC 89.9% on TruthfulQA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411480" y="343800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411480" y="3438000"/>
            <a:ext cx="63000" cy="65736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594360" y="347472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Learning-based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594360" y="3740040"/>
            <a:ext cx="7954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Supervised models trained on annotated data to classify outputs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411480" y="418788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411480" y="4187880"/>
            <a:ext cx="63000" cy="657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43" name="Text 23"/>
          <p:cNvSpPr/>
          <p:nvPr/>
        </p:nvSpPr>
        <p:spPr>
          <a:xfrm>
            <a:off x="594360" y="4224600"/>
            <a:ext cx="219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Self-consistency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594360" y="4489560"/>
            <a:ext cx="7954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Multiple samplings + comparison: inconsistent answers indicate hallucination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Detection techniques — highlights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State of the art in 2024–2025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411480" y="1188720"/>
            <a:ext cx="8319960" cy="1096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594360" y="1325880"/>
            <a:ext cx="1827720" cy="254880"/>
          </a:xfrm>
          <a:prstGeom prst="roundRect">
            <a:avLst>
              <a:gd name="adj" fmla="val 14286"/>
            </a:avLst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594360" y="132588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Embedding-based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594360" y="166428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HalluShift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594360" y="1938600"/>
            <a:ext cx="7954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Detects hallucinations by measuring distribution shifts in internal states (hidden states) and attention layers. Result: AUCROC 89.9% on TruthfulQA and 78.6% on HaloScope — the current state of the art.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411480" y="2423160"/>
            <a:ext cx="8319960" cy="1096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594360" y="2560320"/>
            <a:ext cx="1827720" cy="254880"/>
          </a:xfrm>
          <a:prstGeom prst="roundRect">
            <a:avLst>
              <a:gd name="adj" fmla="val 14286"/>
            </a:avLst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594360" y="256032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Uncertainty-based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594360" y="289872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Semantic uncertainty — Confabulations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594360" y="3173040"/>
            <a:ext cx="7954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Farquhar et al. (2024): groups paraphrases of the output and measures entropy in semantic space. Detects arbitrarily incorrect answers even when multiple phrasings express the same idea.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5"/>
          <p:cNvSpPr/>
          <p:nvPr/>
        </p:nvSpPr>
        <p:spPr>
          <a:xfrm>
            <a:off x="411480" y="3657600"/>
            <a:ext cx="8319960" cy="1096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61" name="Shape 16"/>
          <p:cNvSpPr/>
          <p:nvPr/>
        </p:nvSpPr>
        <p:spPr>
          <a:xfrm>
            <a:off x="594360" y="3794760"/>
            <a:ext cx="1827720" cy="254880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594360" y="379476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Post-generation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594360" y="413316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LLM-as-a-judge / FACTSCORE / RAGAS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594360" y="4407480"/>
            <a:ext cx="7954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Decompose responses into individual claims and verify each one. Scalable — no human annotation required. Used in faithfulness leaderboards and RAG pipelines.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Mitigation strategies — overview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6 categories · 300+ studies mapped (MDPI, 2025)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411480" y="114300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411480" y="1143000"/>
            <a:ext cx="2604960" cy="346320"/>
          </a:xfrm>
          <a:prstGeom prst="rect">
            <a:avLst/>
          </a:prstGeom>
          <a:solidFill>
            <a:srgbClr val="0f6e56">
              <a:alpha val="80000"/>
            </a:srgbClr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502920" y="116136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521280" y="154548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Training and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521280" y="191124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SFT, RLHF, knowledge editing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10"/>
          <p:cNvSpPr/>
          <p:nvPr/>
        </p:nvSpPr>
        <p:spPr>
          <a:xfrm>
            <a:off x="3264480" y="114300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3264480" y="1143000"/>
            <a:ext cx="2604960" cy="346320"/>
          </a:xfrm>
          <a:prstGeom prst="rect">
            <a:avLst/>
          </a:prstGeom>
          <a:solidFill>
            <a:srgbClr val="3a6b9a">
              <a:alpha val="80000"/>
            </a:srgbClr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3355920" y="116136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3374280" y="154548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Architectural modifications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3374280" y="191124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RAG, attention mechanisms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15"/>
          <p:cNvSpPr/>
          <p:nvPr/>
        </p:nvSpPr>
        <p:spPr>
          <a:xfrm>
            <a:off x="6117480" y="114300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81" name="Shape 16"/>
          <p:cNvSpPr/>
          <p:nvPr/>
        </p:nvSpPr>
        <p:spPr>
          <a:xfrm>
            <a:off x="6117480" y="1143000"/>
            <a:ext cx="2604960" cy="346320"/>
          </a:xfrm>
          <a:prstGeom prst="rect">
            <a:avLst/>
          </a:prstGeom>
          <a:solidFill>
            <a:srgbClr val="f0a500">
              <a:alpha val="80000"/>
            </a:srgbClr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6208920" y="116136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6226920" y="154548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Prompt / input optimization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6226920" y="191124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CoT, self-consistency, few-shot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20"/>
          <p:cNvSpPr/>
          <p:nvPr/>
        </p:nvSpPr>
        <p:spPr>
          <a:xfrm>
            <a:off x="411480" y="283464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86" name="Shape 21"/>
          <p:cNvSpPr/>
          <p:nvPr/>
        </p:nvSpPr>
        <p:spPr>
          <a:xfrm>
            <a:off x="411480" y="2834640"/>
            <a:ext cx="2604960" cy="346320"/>
          </a:xfrm>
          <a:prstGeom prst="rect">
            <a:avLst/>
          </a:prstGeom>
          <a:solidFill>
            <a:srgbClr val="e06030">
              <a:alpha val="80000"/>
            </a:srgbClr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87" name="Text 22"/>
          <p:cNvSpPr/>
          <p:nvPr/>
        </p:nvSpPr>
        <p:spPr>
          <a:xfrm>
            <a:off x="502920" y="285300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3"/>
          <p:cNvSpPr/>
          <p:nvPr/>
        </p:nvSpPr>
        <p:spPr>
          <a:xfrm>
            <a:off x="521280" y="323712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Post-generation control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4"/>
          <p:cNvSpPr/>
          <p:nvPr/>
        </p:nvSpPr>
        <p:spPr>
          <a:xfrm>
            <a:off x="521280" y="360288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Fact-checking, LLM-as-judge, RAGAS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5"/>
          <p:cNvSpPr/>
          <p:nvPr/>
        </p:nvSpPr>
        <p:spPr>
          <a:xfrm>
            <a:off x="3264480" y="283464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91" name="Shape 26"/>
          <p:cNvSpPr/>
          <p:nvPr/>
        </p:nvSpPr>
        <p:spPr>
          <a:xfrm>
            <a:off x="3264480" y="2834640"/>
            <a:ext cx="2604960" cy="346320"/>
          </a:xfrm>
          <a:prstGeom prst="rect">
            <a:avLst/>
          </a:prstGeom>
          <a:solidFill>
            <a:srgbClr val="534ab7">
              <a:alpha val="80000"/>
            </a:srgbClr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92" name="Text 27"/>
          <p:cNvSpPr/>
          <p:nvPr/>
        </p:nvSpPr>
        <p:spPr>
          <a:xfrm>
            <a:off x="3355920" y="285300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8"/>
          <p:cNvSpPr/>
          <p:nvPr/>
        </p:nvSpPr>
        <p:spPr>
          <a:xfrm>
            <a:off x="3374280" y="323712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Interpretability and diagnosis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9"/>
          <p:cNvSpPr/>
          <p:nvPr/>
        </p:nvSpPr>
        <p:spPr>
          <a:xfrm>
            <a:off x="3374280" y="360288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Uncertainty, calibration, internal states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30"/>
          <p:cNvSpPr/>
          <p:nvPr/>
        </p:nvSpPr>
        <p:spPr>
          <a:xfrm>
            <a:off x="6117480" y="2834640"/>
            <a:ext cx="2604960" cy="14803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96" name="Shape 31"/>
          <p:cNvSpPr/>
          <p:nvPr/>
        </p:nvSpPr>
        <p:spPr>
          <a:xfrm>
            <a:off x="6117480" y="2834640"/>
            <a:ext cx="2604960" cy="346320"/>
          </a:xfrm>
          <a:prstGeom prst="rect">
            <a:avLst/>
          </a:prstGeom>
          <a:solidFill>
            <a:srgbClr val="70a050">
              <a:alpha val="80000"/>
            </a:srgbClr>
          </a:solidFill>
          <a:ln w="12600">
            <a:solidFill>
              <a:srgbClr val="70a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297" name="Text 32"/>
          <p:cNvSpPr/>
          <p:nvPr/>
        </p:nvSpPr>
        <p:spPr>
          <a:xfrm>
            <a:off x="6208920" y="2853000"/>
            <a:ext cx="364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33"/>
          <p:cNvSpPr/>
          <p:nvPr/>
        </p:nvSpPr>
        <p:spPr>
          <a:xfrm>
            <a:off x="6226920" y="3237120"/>
            <a:ext cx="23763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Agents and orchestration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4"/>
          <p:cNvSpPr/>
          <p:nvPr/>
        </p:nvSpPr>
        <p:spPr>
          <a:xfrm>
            <a:off x="6226920" y="3602880"/>
            <a:ext cx="237636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Multi-agent, RAG + reasoning, self-reflection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RAG — Retrieval-Augmented Generation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most widely adopted approach for reducing knowledge-based hallucinations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411480" y="1234440"/>
            <a:ext cx="1827720" cy="59328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411480" y="12344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User prompt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2423160" y="1234440"/>
            <a:ext cx="1827720" cy="593280"/>
          </a:xfrm>
          <a:prstGeom prst="roundRect">
            <a:avLst>
              <a:gd name="adj" fmla="val 12308"/>
            </a:avLst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2423160" y="12344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Retriever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4434840" y="1234440"/>
            <a:ext cx="1827720" cy="59328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4434840" y="12344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Retrieved documents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6675120" y="1234440"/>
            <a:ext cx="1827720" cy="593280"/>
          </a:xfrm>
          <a:prstGeom prst="roundRect">
            <a:avLst>
              <a:gd name="adj" fmla="val 12308"/>
            </a:avLst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6675120" y="12344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LLM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2240280" y="1486080"/>
            <a:ext cx="17280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-8280" bIns="-828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4251960" y="1486080"/>
            <a:ext cx="17280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-8280" bIns="-828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6263640" y="1486080"/>
            <a:ext cx="401400" cy="35640"/>
          </a:xfrm>
          <a:prstGeom prst="rect">
            <a:avLst/>
          </a:prstGeom>
          <a:solidFill>
            <a:srgbClr val="8ba5bc"/>
          </a:solidFill>
          <a:ln w="12600">
            <a:solidFill>
              <a:srgbClr val="8ba5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-8280" bIns="-828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6" name="Shape 16"/>
          <p:cNvSpPr/>
          <p:nvPr/>
        </p:nvSpPr>
        <p:spPr>
          <a:xfrm>
            <a:off x="6675120" y="2011680"/>
            <a:ext cx="1827720" cy="501840"/>
          </a:xfrm>
          <a:prstGeom prst="roundRect">
            <a:avLst>
              <a:gd name="adj" fmla="val 10909"/>
            </a:avLst>
          </a:prstGeom>
          <a:solidFill>
            <a:srgbClr val="2a3a1a"/>
          </a:solidFill>
          <a:ln w="12600">
            <a:solidFill>
              <a:srgbClr val="70a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6675120" y="201168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Grounded response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8"/>
          <p:cNvSpPr/>
          <p:nvPr/>
        </p:nvSpPr>
        <p:spPr>
          <a:xfrm>
            <a:off x="411480" y="2743200"/>
            <a:ext cx="4205160" cy="20106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19" name="Shape 19"/>
          <p:cNvSpPr/>
          <p:nvPr/>
        </p:nvSpPr>
        <p:spPr>
          <a:xfrm>
            <a:off x="411480" y="2743200"/>
            <a:ext cx="4205160" cy="36468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0" name="Text 20"/>
          <p:cNvSpPr/>
          <p:nvPr/>
        </p:nvSpPr>
        <p:spPr>
          <a:xfrm>
            <a:off x="548640" y="274320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Advantages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1"/>
          <p:cNvSpPr/>
          <p:nvPr/>
        </p:nvSpPr>
        <p:spPr>
          <a:xfrm>
            <a:off x="548640" y="318204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Updated knowledge without retraining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22"/>
          <p:cNvSpPr/>
          <p:nvPr/>
        </p:nvSpPr>
        <p:spPr>
          <a:xfrm>
            <a:off x="548640" y="359352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Response grounded in verifiable sources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23"/>
          <p:cNvSpPr/>
          <p:nvPr/>
        </p:nvSpPr>
        <p:spPr>
          <a:xfrm>
            <a:off x="548640" y="400500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Reduces knowledge-based hallucinations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4"/>
          <p:cNvSpPr/>
          <p:nvPr/>
        </p:nvSpPr>
        <p:spPr>
          <a:xfrm>
            <a:off x="548640" y="441648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Can be combined with RLHF (FoRAG, RAG-HAT)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4873680" y="2743200"/>
            <a:ext cx="4205160" cy="20106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6" name="Shape 26"/>
          <p:cNvSpPr/>
          <p:nvPr/>
        </p:nvSpPr>
        <p:spPr>
          <a:xfrm>
            <a:off x="4873680" y="2743200"/>
            <a:ext cx="4205160" cy="36468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27" name="Text 27"/>
          <p:cNvSpPr/>
          <p:nvPr/>
        </p:nvSpPr>
        <p:spPr>
          <a:xfrm>
            <a:off x="5010840" y="2743200"/>
            <a:ext cx="3930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Limitations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28"/>
          <p:cNvSpPr/>
          <p:nvPr/>
        </p:nvSpPr>
        <p:spPr>
          <a:xfrm>
            <a:off x="5010840" y="318204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RAG does not eliminate hallucinations — the LLM may still contradict its own retrieved context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29"/>
          <p:cNvSpPr/>
          <p:nvPr/>
        </p:nvSpPr>
        <p:spPr>
          <a:xfrm>
            <a:off x="5010840" y="359352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Computational retrieval cost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0"/>
          <p:cNvSpPr/>
          <p:nvPr/>
        </p:nvSpPr>
        <p:spPr>
          <a:xfrm>
            <a:off x="5010840" y="4005000"/>
            <a:ext cx="38851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marL="343080" indent="-343080" defTabSz="914400">
              <a:lnSpc>
                <a:spcPct val="92000"/>
              </a:lnSpc>
              <a:spcAft>
                <a:spcPts val="51"/>
              </a:spcAft>
              <a:buClr>
                <a:srgbClr val="f0f4f8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Quality depends on the retriever and the database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Prompt engineering &amp; reasoning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Mitigation without modifying the model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5"/>
          <p:cNvSpPr/>
          <p:nvPr/>
        </p:nvSpPr>
        <p:spPr>
          <a:xfrm>
            <a:off x="411480" y="1170360"/>
            <a:ext cx="8319960" cy="1023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37" name="Shape 6"/>
          <p:cNvSpPr/>
          <p:nvPr/>
        </p:nvSpPr>
        <p:spPr>
          <a:xfrm>
            <a:off x="411480" y="1170360"/>
            <a:ext cx="63000" cy="102312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338" name="Image 0" descr="preencoded.png"/>
          <p:cNvPicPr/>
          <p:nvPr/>
        </p:nvPicPr>
        <p:blipFill>
          <a:blip r:embed="rId1"/>
          <a:stretch/>
        </p:blipFill>
        <p:spPr>
          <a:xfrm>
            <a:off x="594360" y="14446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339" name="Text 7"/>
          <p:cNvSpPr/>
          <p:nvPr/>
        </p:nvSpPr>
        <p:spPr>
          <a:xfrm>
            <a:off x="1115640" y="1261800"/>
            <a:ext cx="7131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Chain-of-Thought (CoT)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1115640" y="1645920"/>
            <a:ext cx="7131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Forces the model to reason step by step before answering. Significantly reduces hallucinations in prompt-sensitive scenarios. Wei et al. (2022).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411480" y="2359080"/>
            <a:ext cx="8319960" cy="1023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42" name="Shape 10"/>
          <p:cNvSpPr/>
          <p:nvPr/>
        </p:nvSpPr>
        <p:spPr>
          <a:xfrm>
            <a:off x="411480" y="2359080"/>
            <a:ext cx="63000" cy="102312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343" name="Image 1" descr="preencoded.png"/>
          <p:cNvPicPr/>
          <p:nvPr/>
        </p:nvPicPr>
        <p:blipFill>
          <a:blip r:embed="rId2"/>
          <a:stretch/>
        </p:blipFill>
        <p:spPr>
          <a:xfrm>
            <a:off x="594360" y="263340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344" name="Text 11"/>
          <p:cNvSpPr/>
          <p:nvPr/>
        </p:nvSpPr>
        <p:spPr>
          <a:xfrm>
            <a:off x="1115640" y="2450520"/>
            <a:ext cx="7131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Self-consistency decoding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1115640" y="2834640"/>
            <a:ext cx="7131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Multiple samplings → majority vote over the answer. Inconsistencies indicate low confidence. Wang et al. (2022).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3"/>
          <p:cNvSpPr/>
          <p:nvPr/>
        </p:nvSpPr>
        <p:spPr>
          <a:xfrm>
            <a:off x="411480" y="3547800"/>
            <a:ext cx="8319960" cy="1023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47" name="Shape 14"/>
          <p:cNvSpPr/>
          <p:nvPr/>
        </p:nvSpPr>
        <p:spPr>
          <a:xfrm>
            <a:off x="411480" y="3547800"/>
            <a:ext cx="63000" cy="10231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348" name="Image 2" descr="preencoded.png"/>
          <p:cNvPicPr/>
          <p:nvPr/>
        </p:nvPicPr>
        <p:blipFill>
          <a:blip r:embed="rId3"/>
          <a:stretch/>
        </p:blipFill>
        <p:spPr>
          <a:xfrm>
            <a:off x="594360" y="382212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349" name="Text 15"/>
          <p:cNvSpPr/>
          <p:nvPr/>
        </p:nvSpPr>
        <p:spPr>
          <a:xfrm>
            <a:off x="1115640" y="3639240"/>
            <a:ext cx="7131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Structured prompting and few-shot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6"/>
          <p:cNvSpPr/>
          <p:nvPr/>
        </p:nvSpPr>
        <p:spPr>
          <a:xfrm>
            <a:off x="1115640" y="4023360"/>
            <a:ext cx="7131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Well-defined prompts, with examples and explicit instructions to avoid invention. Reduce prompt-induced hallucinations (Prompt Sensitivity).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17"/>
          <p:cNvSpPr/>
          <p:nvPr/>
        </p:nvSpPr>
        <p:spPr>
          <a:xfrm>
            <a:off x="411480" y="4663440"/>
            <a:ext cx="8319960" cy="1634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52" name="Shape 18"/>
          <p:cNvSpPr/>
          <p:nvPr/>
        </p:nvSpPr>
        <p:spPr>
          <a:xfrm>
            <a:off x="411480" y="4663440"/>
            <a:ext cx="63000" cy="16344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53" name="Text 19"/>
          <p:cNvSpPr/>
          <p:nvPr/>
        </p:nvSpPr>
        <p:spPr>
          <a:xfrm>
            <a:off x="594360" y="4663440"/>
            <a:ext cx="8045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Limitation: prompt engineering does not correct internal model limitations — model-intrinsic hallucinations persist.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Agentic systems — frontier of the field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RAG + reasoning + multiple agents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411480" y="1188720"/>
            <a:ext cx="415944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411480" y="1188720"/>
            <a:ext cx="4159440" cy="383040"/>
          </a:xfrm>
          <a:prstGeom prst="rect">
            <a:avLst/>
          </a:prstGeom>
          <a:solidFill>
            <a:srgbClr val="70a050">
              <a:alpha val="75000"/>
            </a:srgbClr>
          </a:solidFill>
          <a:ln w="12600">
            <a:solidFill>
              <a:srgbClr val="70a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548640" y="118872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DeepResearcher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8"/>
          <p:cNvSpPr/>
          <p:nvPr/>
        </p:nvSpPr>
        <p:spPr>
          <a:xfrm>
            <a:off x="548640" y="1645920"/>
            <a:ext cx="3839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End-to-end RL for autonomous planning of retrieval and information verification in dynamic web environments. Substantial improvement for real-world QA.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4782240" y="1188720"/>
            <a:ext cx="415944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4" name="Shape 10"/>
          <p:cNvSpPr/>
          <p:nvPr/>
        </p:nvSpPr>
        <p:spPr>
          <a:xfrm>
            <a:off x="4782240" y="1188720"/>
            <a:ext cx="4159440" cy="383040"/>
          </a:xfrm>
          <a:prstGeom prst="rect">
            <a:avLst/>
          </a:prstGeom>
          <a:solidFill>
            <a:srgbClr val="3a6b9a">
              <a:alpha val="75000"/>
            </a:srgbClr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5" name="Text 11"/>
          <p:cNvSpPr/>
          <p:nvPr/>
        </p:nvSpPr>
        <p:spPr>
          <a:xfrm>
            <a:off x="4919400" y="118872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WebWalker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12"/>
          <p:cNvSpPr/>
          <p:nvPr/>
        </p:nvSpPr>
        <p:spPr>
          <a:xfrm>
            <a:off x="4919400" y="1645920"/>
            <a:ext cx="3839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Multi-agent framework that navigates deeply through web content to improve the quality and depth of information retrieval.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3"/>
          <p:cNvSpPr/>
          <p:nvPr/>
        </p:nvSpPr>
        <p:spPr>
          <a:xfrm>
            <a:off x="411480" y="2880360"/>
            <a:ext cx="415944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8" name="Shape 14"/>
          <p:cNvSpPr/>
          <p:nvPr/>
        </p:nvSpPr>
        <p:spPr>
          <a:xfrm>
            <a:off x="411480" y="2880360"/>
            <a:ext cx="4159440" cy="383040"/>
          </a:xfrm>
          <a:prstGeom prst="rect">
            <a:avLst/>
          </a:prstGeom>
          <a:solidFill>
            <a:srgbClr val="0f6e56">
              <a:alpha val="75000"/>
            </a:srgbClr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69" name="Text 15"/>
          <p:cNvSpPr/>
          <p:nvPr/>
        </p:nvSpPr>
        <p:spPr>
          <a:xfrm>
            <a:off x="548640" y="28803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FoRAG (Factuality-optimized RAG)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16"/>
          <p:cNvSpPr/>
          <p:nvPr/>
        </p:nvSpPr>
        <p:spPr>
          <a:xfrm>
            <a:off x="548640" y="3337560"/>
            <a:ext cx="3839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Combines RAG with dual-granularity RLHF to optimize factual accuracy in long-form answers (LFQA — Long-Form QA).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17"/>
          <p:cNvSpPr/>
          <p:nvPr/>
        </p:nvSpPr>
        <p:spPr>
          <a:xfrm>
            <a:off x="4782240" y="2880360"/>
            <a:ext cx="415944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72" name="Shape 18"/>
          <p:cNvSpPr/>
          <p:nvPr/>
        </p:nvSpPr>
        <p:spPr>
          <a:xfrm>
            <a:off x="4782240" y="2880360"/>
            <a:ext cx="4159440" cy="383040"/>
          </a:xfrm>
          <a:prstGeom prst="rect">
            <a:avLst/>
          </a:prstGeom>
          <a:solidFill>
            <a:srgbClr val="534ab7">
              <a:alpha val="75000"/>
            </a:srgbClr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73" name="Text 19"/>
          <p:cNvSpPr/>
          <p:nvPr/>
        </p:nvSpPr>
        <p:spPr>
          <a:xfrm>
            <a:off x="4919400" y="2880360"/>
            <a:ext cx="3839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Self-refinement / self-reflection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20"/>
          <p:cNvSpPr/>
          <p:nvPr/>
        </p:nvSpPr>
        <p:spPr>
          <a:xfrm>
            <a:off x="4919400" y="3337560"/>
            <a:ext cx="38394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model evaluates and refines its own output across multiple steps. Detects and corrects inconsistencies without an external agent.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Comparison of mitigation approaches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No isolated strategy solves the problem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80" name="Table 0"/>
          <p:cNvGraphicFramePr/>
          <p:nvPr/>
        </p:nvGraphicFramePr>
        <p:xfrm>
          <a:off x="411480" y="1188720"/>
          <a:ext cx="8457840" cy="3110400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1188720"/>
                <a:gridCol w="1463040"/>
                <a:gridCol w="2103120"/>
              </a:tblGrid>
              <a:tr h="603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Computational cost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Effectiveness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Modifies the model?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347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SFT / RLHF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 (training)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General alignment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</a:tr>
              <a:tr h="603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Medium (inference)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 (KB)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External knowledge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</a:tr>
              <a:tr h="347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CoT / Self-cons.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Low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Reasoning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</a:tr>
              <a:tr h="603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Post-generation fact-checking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High-stakes applications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0d1520"/>
                    </a:solidFill>
                  </a:tcPr>
                </a:tc>
              </a:tr>
              <a:tr h="603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Agentic systems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Very high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Open environments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1e3a5f"/>
                      </a:solidFill>
                      <a:prstDash val="solid"/>
                    </a:lnL>
                    <a:lnR w="6480">
                      <a:solidFill>
                        <a:srgbClr val="1e3a5f"/>
                      </a:solidFill>
                      <a:prstDash val="solid"/>
                    </a:lnR>
                    <a:lnT w="6480">
                      <a:solidFill>
                        <a:srgbClr val="1e3a5f"/>
                      </a:solidFill>
                      <a:prstDash val="solid"/>
                    </a:lnT>
                    <a:lnB w="6480">
                      <a:solidFill>
                        <a:srgbClr val="1e3a5f"/>
                      </a:solidFill>
                      <a:prstDash val="solid"/>
                    </a:lnB>
                    <a:solidFill>
                      <a:srgbClr val="111d2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411480" y="274320"/>
            <a:ext cx="63000" cy="5932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Main evaluation benchmarks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84" name="Text 3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411480" y="117036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411480" y="1170360"/>
            <a:ext cx="63000" cy="65736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594360" y="1353240"/>
            <a:ext cx="474480" cy="273240"/>
          </a:xfrm>
          <a:prstGeom prst="roundRect">
            <a:avLst>
              <a:gd name="adj" fmla="val 13333"/>
            </a:avLst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594360" y="1353240"/>
            <a:ext cx="474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2022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1188720" y="124344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TruthfulQA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1188720" y="153612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817 adversarial questions, 38 categories. Measures factuality (not hallucination!). Risk of training contamination.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10"/>
          <p:cNvSpPr/>
          <p:nvPr/>
        </p:nvSpPr>
        <p:spPr>
          <a:xfrm>
            <a:off x="411480" y="192024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2" name="Shape 11"/>
          <p:cNvSpPr/>
          <p:nvPr/>
        </p:nvSpPr>
        <p:spPr>
          <a:xfrm>
            <a:off x="411480" y="1920240"/>
            <a:ext cx="63000" cy="65736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3" name="Shape 12"/>
          <p:cNvSpPr/>
          <p:nvPr/>
        </p:nvSpPr>
        <p:spPr>
          <a:xfrm>
            <a:off x="594360" y="2103120"/>
            <a:ext cx="474480" cy="273240"/>
          </a:xfrm>
          <a:prstGeom prst="roundRect">
            <a:avLst>
              <a:gd name="adj" fmla="val 13333"/>
            </a:avLst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4" name="Text 13"/>
          <p:cNvSpPr/>
          <p:nvPr/>
        </p:nvSpPr>
        <p:spPr>
          <a:xfrm>
            <a:off x="594360" y="2103120"/>
            <a:ext cx="474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2024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14"/>
          <p:cNvSpPr/>
          <p:nvPr/>
        </p:nvSpPr>
        <p:spPr>
          <a:xfrm>
            <a:off x="1188720" y="199332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HaluEval 2.0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1188720" y="228600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8,770 questions across 5 domains: biomedicine, finance, science, education, open domain.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16"/>
          <p:cNvSpPr/>
          <p:nvPr/>
        </p:nvSpPr>
        <p:spPr>
          <a:xfrm>
            <a:off x="411480" y="267012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8" name="Shape 17"/>
          <p:cNvSpPr/>
          <p:nvPr/>
        </p:nvSpPr>
        <p:spPr>
          <a:xfrm>
            <a:off x="411480" y="2670120"/>
            <a:ext cx="63000" cy="65736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399" name="Shape 18"/>
          <p:cNvSpPr/>
          <p:nvPr/>
        </p:nvSpPr>
        <p:spPr>
          <a:xfrm>
            <a:off x="594360" y="2853000"/>
            <a:ext cx="474480" cy="273240"/>
          </a:xfrm>
          <a:prstGeom prst="roundRect">
            <a:avLst>
              <a:gd name="adj" fmla="val 13333"/>
            </a:avLst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594360" y="2853000"/>
            <a:ext cx="474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2024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20"/>
          <p:cNvSpPr/>
          <p:nvPr/>
        </p:nvSpPr>
        <p:spPr>
          <a:xfrm>
            <a:off x="1188720" y="274320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FaithBench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21"/>
          <p:cNvSpPr/>
          <p:nvPr/>
        </p:nvSpPr>
        <p:spPr>
          <a:xfrm>
            <a:off x="1188720" y="303588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Human annotations of hallucinations in summaries from 10 modern LLMs across 8 families. High annotation quality.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2"/>
          <p:cNvSpPr/>
          <p:nvPr/>
        </p:nvSpPr>
        <p:spPr>
          <a:xfrm>
            <a:off x="411480" y="342000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04" name="Shape 23"/>
          <p:cNvSpPr/>
          <p:nvPr/>
        </p:nvSpPr>
        <p:spPr>
          <a:xfrm>
            <a:off x="411480" y="3420000"/>
            <a:ext cx="63000" cy="65736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05" name="Shape 24"/>
          <p:cNvSpPr/>
          <p:nvPr/>
        </p:nvSpPr>
        <p:spPr>
          <a:xfrm>
            <a:off x="594360" y="3602880"/>
            <a:ext cx="474480" cy="273240"/>
          </a:xfrm>
          <a:prstGeom prst="roundRect">
            <a:avLst>
              <a:gd name="adj" fmla="val 13333"/>
            </a:avLst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06" name="Text 25"/>
          <p:cNvSpPr/>
          <p:nvPr/>
        </p:nvSpPr>
        <p:spPr>
          <a:xfrm>
            <a:off x="594360" y="3602880"/>
            <a:ext cx="474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2025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26"/>
          <p:cNvSpPr/>
          <p:nvPr/>
        </p:nvSpPr>
        <p:spPr>
          <a:xfrm>
            <a:off x="1188720" y="349308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HalluLens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27"/>
          <p:cNvSpPr/>
          <p:nvPr/>
        </p:nvSpPr>
        <p:spPr>
          <a:xfrm>
            <a:off x="1188720" y="378576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Dynamic question generation — avoids benchmark leakage. Strictly distinguishes hallucination from factuality.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28"/>
          <p:cNvSpPr/>
          <p:nvPr/>
        </p:nvSpPr>
        <p:spPr>
          <a:xfrm>
            <a:off x="411480" y="416952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10" name="Shape 29"/>
          <p:cNvSpPr/>
          <p:nvPr/>
        </p:nvSpPr>
        <p:spPr>
          <a:xfrm>
            <a:off x="411480" y="4169520"/>
            <a:ext cx="63000" cy="65736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11" name="Shape 30"/>
          <p:cNvSpPr/>
          <p:nvPr/>
        </p:nvSpPr>
        <p:spPr>
          <a:xfrm>
            <a:off x="594360" y="4352400"/>
            <a:ext cx="474480" cy="273240"/>
          </a:xfrm>
          <a:prstGeom prst="roundRect">
            <a:avLst>
              <a:gd name="adj" fmla="val 13333"/>
            </a:avLst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12" name="Text 31"/>
          <p:cNvSpPr/>
          <p:nvPr/>
        </p:nvSpPr>
        <p:spPr>
          <a:xfrm>
            <a:off x="594360" y="4352400"/>
            <a:ext cx="474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2023–24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32"/>
          <p:cNvSpPr/>
          <p:nvPr/>
        </p:nvSpPr>
        <p:spPr>
          <a:xfrm>
            <a:off x="1188720" y="4242960"/>
            <a:ext cx="2010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FACTSCORE / RAGAS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3"/>
          <p:cNvSpPr/>
          <p:nvPr/>
        </p:nvSpPr>
        <p:spPr>
          <a:xfrm>
            <a:off x="1188720" y="453528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Decompose responses into individual claims for granular detection. Scalable without human annotation.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evaluation problem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Classical metrics fail — benchmarks become obsolete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411480" y="1188720"/>
            <a:ext cx="3839400" cy="14162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411480" y="1188720"/>
            <a:ext cx="3839400" cy="383040"/>
          </a:xfrm>
          <a:prstGeom prst="rect">
            <a:avLst/>
          </a:prstGeom>
          <a:solidFill>
            <a:srgbClr val="7a3020"/>
          </a:solidFill>
          <a:ln w="12600">
            <a:solidFill>
              <a:srgbClr val="7a3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502920" y="118872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BLEU / ROUGE fail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548640" y="1627560"/>
            <a:ext cx="356508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Measure n-gram overlap — unable to detect factual inconsistency. A fluent but incorrect text may still receive a high BLEU score.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4617720" y="1188720"/>
            <a:ext cx="4113720" cy="141624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4617720" y="1188720"/>
            <a:ext cx="4113720" cy="383040"/>
          </a:xfrm>
          <a:prstGeom prst="rect">
            <a:avLst/>
          </a:prstGeom>
          <a:solidFill>
            <a:srgbClr val="7a5020"/>
          </a:solidFill>
          <a:ln w="12600">
            <a:solidFill>
              <a:srgbClr val="7a5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4709160" y="118872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Benchmark leakage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4754880" y="1627560"/>
            <a:ext cx="38394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Training data of newer LLMs include public benchmarks — inflated results. MMLU and TruthfulQA are possibly contaminated.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13"/>
          <p:cNvSpPr/>
          <p:nvPr/>
        </p:nvSpPr>
        <p:spPr>
          <a:xfrm>
            <a:off x="411480" y="2834640"/>
            <a:ext cx="8319960" cy="254880"/>
          </a:xfrm>
          <a:prstGeom prst="rect">
            <a:avLst/>
          </a:prstGeom>
          <a:solidFill>
            <a:srgbClr val="000000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411480" y="2834640"/>
            <a:ext cx="8319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EMERGING SOLUTION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411480" y="3154680"/>
            <a:ext cx="8319960" cy="529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411480" y="3154680"/>
            <a:ext cx="63000" cy="52920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594360" y="318204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Dynamic benchmarks (HalluLens)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594360" y="3429000"/>
            <a:ext cx="7954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Continuous generation of new questions to prevent benchmarks from being absorbed into training.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411480" y="3767400"/>
            <a:ext cx="8319960" cy="529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411480" y="3767400"/>
            <a:ext cx="63000" cy="52920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594360" y="379476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LLM-as-a-judge in zero-shot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594360" y="4041720"/>
            <a:ext cx="7954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Powerful models as judges — scalable and annotation-free. Examples: FACTS Grounding, Galileo Hallucination Index.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23"/>
          <p:cNvSpPr/>
          <p:nvPr/>
        </p:nvSpPr>
        <p:spPr>
          <a:xfrm>
            <a:off x="411480" y="4380120"/>
            <a:ext cx="8319960" cy="52920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39" name="Shape 24"/>
          <p:cNvSpPr/>
          <p:nvPr/>
        </p:nvSpPr>
        <p:spPr>
          <a:xfrm>
            <a:off x="411480" y="4380120"/>
            <a:ext cx="63000" cy="52920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40" name="Text 25"/>
          <p:cNvSpPr/>
          <p:nvPr/>
        </p:nvSpPr>
        <p:spPr>
          <a:xfrm>
            <a:off x="594360" y="440748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Granular claim-based evaluation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6"/>
          <p:cNvSpPr/>
          <p:nvPr/>
        </p:nvSpPr>
        <p:spPr>
          <a:xfrm>
            <a:off x="594360" y="4654440"/>
            <a:ext cx="7954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FACTSCORE and RAGAS decompose responses — identify exactly which part of the answer is hallucinated.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Open challenges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The field is far from solving the problem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46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5"/>
          <p:cNvSpPr/>
          <p:nvPr/>
        </p:nvSpPr>
        <p:spPr>
          <a:xfrm>
            <a:off x="411480" y="117036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48" name="Shape 6"/>
          <p:cNvSpPr/>
          <p:nvPr/>
        </p:nvSpPr>
        <p:spPr>
          <a:xfrm>
            <a:off x="411480" y="1170360"/>
            <a:ext cx="63000" cy="150768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594360" y="130752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Lack of standardization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8"/>
          <p:cNvSpPr/>
          <p:nvPr/>
        </p:nvSpPr>
        <p:spPr>
          <a:xfrm>
            <a:off x="594360" y="171900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Fragmented benchmarks, inconsistent definitions of hallucination vs. factuality.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9"/>
          <p:cNvSpPr/>
          <p:nvPr/>
        </p:nvSpPr>
        <p:spPr>
          <a:xfrm>
            <a:off x="3264480" y="117036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52" name="Shape 10"/>
          <p:cNvSpPr/>
          <p:nvPr/>
        </p:nvSpPr>
        <p:spPr>
          <a:xfrm>
            <a:off x="3264480" y="1170360"/>
            <a:ext cx="63000" cy="150768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3447360" y="130752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Multimodal models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12"/>
          <p:cNvSpPr/>
          <p:nvPr/>
        </p:nvSpPr>
        <p:spPr>
          <a:xfrm>
            <a:off x="3447360" y="171900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Vision-language hallucinations (VLMs) have their own challenges — even less explored.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3"/>
          <p:cNvSpPr/>
          <p:nvPr/>
        </p:nvSpPr>
        <p:spPr>
          <a:xfrm>
            <a:off x="6117480" y="117036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56" name="Shape 14"/>
          <p:cNvSpPr/>
          <p:nvPr/>
        </p:nvSpPr>
        <p:spPr>
          <a:xfrm>
            <a:off x="6117480" y="1170360"/>
            <a:ext cx="63000" cy="150768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6300360" y="130752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Knowledge boundaries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16"/>
          <p:cNvSpPr/>
          <p:nvPr/>
        </p:nvSpPr>
        <p:spPr>
          <a:xfrm>
            <a:off x="6300360" y="171900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The model does not know what it does not know. “Knowledge of the limit” — the boundary between what was trained and what it fabricates.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17"/>
          <p:cNvSpPr/>
          <p:nvPr/>
        </p:nvSpPr>
        <p:spPr>
          <a:xfrm>
            <a:off x="411480" y="286200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0" name="Shape 18"/>
          <p:cNvSpPr/>
          <p:nvPr/>
        </p:nvSpPr>
        <p:spPr>
          <a:xfrm>
            <a:off x="411480" y="2862000"/>
            <a:ext cx="63000" cy="150768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1" name="Text 19"/>
          <p:cNvSpPr/>
          <p:nvPr/>
        </p:nvSpPr>
        <p:spPr>
          <a:xfrm>
            <a:off x="594360" y="299916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Multilingual hallucinations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20"/>
          <p:cNvSpPr/>
          <p:nvPr/>
        </p:nvSpPr>
        <p:spPr>
          <a:xfrm>
            <a:off x="594360" y="341064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Most studies are in English. Behavior in other languages remains underexplored.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21"/>
          <p:cNvSpPr/>
          <p:nvPr/>
        </p:nvSpPr>
        <p:spPr>
          <a:xfrm>
            <a:off x="3264480" y="286200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4" name="Shape 22"/>
          <p:cNvSpPr/>
          <p:nvPr/>
        </p:nvSpPr>
        <p:spPr>
          <a:xfrm>
            <a:off x="3264480" y="2862000"/>
            <a:ext cx="63000" cy="1507680"/>
          </a:xfrm>
          <a:prstGeom prst="rect">
            <a:avLst/>
          </a:prstGeom>
          <a:solidFill>
            <a:srgbClr val="0f6e56"/>
          </a:solidFill>
          <a:ln w="12600">
            <a:solidFill>
              <a:srgbClr val="0f6e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5" name="Text 23"/>
          <p:cNvSpPr/>
          <p:nvPr/>
        </p:nvSpPr>
        <p:spPr>
          <a:xfrm>
            <a:off x="3447360" y="299916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Scalability of detection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24"/>
          <p:cNvSpPr/>
          <p:nvPr/>
        </p:nvSpPr>
        <p:spPr>
          <a:xfrm>
            <a:off x="3447360" y="341064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Real-time detection during inference is still incipient — production systems are needed.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25"/>
          <p:cNvSpPr/>
          <p:nvPr/>
        </p:nvSpPr>
        <p:spPr>
          <a:xfrm>
            <a:off x="6117480" y="2862000"/>
            <a:ext cx="2604960" cy="15076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8" name="Shape 26"/>
          <p:cNvSpPr/>
          <p:nvPr/>
        </p:nvSpPr>
        <p:spPr>
          <a:xfrm>
            <a:off x="6117480" y="2862000"/>
            <a:ext cx="63000" cy="1507680"/>
          </a:xfrm>
          <a:prstGeom prst="rect">
            <a:avLst/>
          </a:prstGeom>
          <a:solidFill>
            <a:srgbClr val="70a050"/>
          </a:solidFill>
          <a:ln w="12600">
            <a:solidFill>
              <a:srgbClr val="70a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69" name="Text 27"/>
          <p:cNvSpPr/>
          <p:nvPr/>
        </p:nvSpPr>
        <p:spPr>
          <a:xfrm>
            <a:off x="6300360" y="299916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Attribution in combined methods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28"/>
          <p:cNvSpPr/>
          <p:nvPr/>
        </p:nvSpPr>
        <p:spPr>
          <a:xfrm>
            <a:off x="6300360" y="3410640"/>
            <a:ext cx="22849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Difficult to isolate the contribution of each technique when RAG + CoT + RLHF are combined.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411480" y="27432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72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Promising research directions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2"/>
          <p:cNvSpPr/>
          <p:nvPr/>
        </p:nvSpPr>
        <p:spPr>
          <a:xfrm>
            <a:off x="548640" y="658440"/>
            <a:ext cx="8045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Where the field is heading in 2025–2026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3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75" name="Text 4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5"/>
          <p:cNvSpPr/>
          <p:nvPr/>
        </p:nvSpPr>
        <p:spPr>
          <a:xfrm>
            <a:off x="411480" y="1143000"/>
            <a:ext cx="8319960" cy="8218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77" name="Shape 6"/>
          <p:cNvSpPr/>
          <p:nvPr/>
        </p:nvSpPr>
        <p:spPr>
          <a:xfrm>
            <a:off x="411480" y="1143000"/>
            <a:ext cx="63000" cy="8218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478" name="Image 0" descr="preencoded.png"/>
          <p:cNvPicPr/>
          <p:nvPr/>
        </p:nvPicPr>
        <p:blipFill>
          <a:blip r:embed="rId1"/>
          <a:stretch/>
        </p:blipFill>
        <p:spPr>
          <a:xfrm>
            <a:off x="594360" y="13442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79" name="Text 7"/>
          <p:cNvSpPr/>
          <p:nvPr/>
        </p:nvSpPr>
        <p:spPr>
          <a:xfrm>
            <a:off x="1078920" y="1216080"/>
            <a:ext cx="749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Hybrid RAG + reflective reasoning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8"/>
          <p:cNvSpPr/>
          <p:nvPr/>
        </p:nvSpPr>
        <p:spPr>
          <a:xfrm>
            <a:off x="1078920" y="1527120"/>
            <a:ext cx="7497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Integrating retrieval with self-reflection and dynamic planning — combining the strengths of RAG and CoT in unified pipelines.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9"/>
          <p:cNvSpPr/>
          <p:nvPr/>
        </p:nvSpPr>
        <p:spPr>
          <a:xfrm>
            <a:off x="411480" y="2075760"/>
            <a:ext cx="8319960" cy="8218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82" name="Shape 10"/>
          <p:cNvSpPr/>
          <p:nvPr/>
        </p:nvSpPr>
        <p:spPr>
          <a:xfrm>
            <a:off x="411480" y="2075760"/>
            <a:ext cx="63000" cy="82188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483" name="Image 1" descr="preencoded.png"/>
          <p:cNvPicPr/>
          <p:nvPr/>
        </p:nvPicPr>
        <p:blipFill>
          <a:blip r:embed="rId2"/>
          <a:stretch/>
        </p:blipFill>
        <p:spPr>
          <a:xfrm>
            <a:off x="594360" y="22770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4" name="Text 11"/>
          <p:cNvSpPr/>
          <p:nvPr/>
        </p:nvSpPr>
        <p:spPr>
          <a:xfrm>
            <a:off x="1078920" y="2148840"/>
            <a:ext cx="749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Knowledge-graph grounded fine-tuning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1078920" y="2459880"/>
            <a:ext cx="7497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Knowledge graph-based retrofitting: injecting verifiable factual structure during fine-tuning, not only during retrieval.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13"/>
          <p:cNvSpPr/>
          <p:nvPr/>
        </p:nvSpPr>
        <p:spPr>
          <a:xfrm>
            <a:off x="411480" y="3008520"/>
            <a:ext cx="8319960" cy="8218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87" name="Shape 14"/>
          <p:cNvSpPr/>
          <p:nvPr/>
        </p:nvSpPr>
        <p:spPr>
          <a:xfrm>
            <a:off x="411480" y="3008520"/>
            <a:ext cx="63000" cy="82188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488" name="Image 2" descr="preencoded.png"/>
          <p:cNvPicPr/>
          <p:nvPr/>
        </p:nvPicPr>
        <p:blipFill>
          <a:blip r:embed="rId3"/>
          <a:stretch/>
        </p:blipFill>
        <p:spPr>
          <a:xfrm>
            <a:off x="594360" y="32094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9" name="Text 15"/>
          <p:cNvSpPr/>
          <p:nvPr/>
        </p:nvSpPr>
        <p:spPr>
          <a:xfrm>
            <a:off x="1078920" y="3081600"/>
            <a:ext cx="749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Real-time detection during inference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1078920" y="3392280"/>
            <a:ext cx="7497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Systems that detect and correct hallucinations token by token before generation is completed — lower latency.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>
            <a:off x="411480" y="3940920"/>
            <a:ext cx="8319960" cy="82188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  <a:effectLst>
            <a:outerShdw blurRad="101520" dir="8100000" dist="25455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92" name="Shape 18"/>
          <p:cNvSpPr/>
          <p:nvPr/>
        </p:nvSpPr>
        <p:spPr>
          <a:xfrm>
            <a:off x="411480" y="3940920"/>
            <a:ext cx="63000" cy="82188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493" name="Image 3" descr="preencoded.png"/>
          <p:cNvPicPr/>
          <p:nvPr/>
        </p:nvPicPr>
        <p:blipFill>
          <a:blip r:embed="rId4"/>
          <a:stretch/>
        </p:blipFill>
        <p:spPr>
          <a:xfrm>
            <a:off x="594360" y="414216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4" name="Text 19"/>
          <p:cNvSpPr/>
          <p:nvPr/>
        </p:nvSpPr>
        <p:spPr>
          <a:xfrm>
            <a:off x="1078920" y="4014360"/>
            <a:ext cx="7497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Confidence calibration and abstention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20"/>
          <p:cNvSpPr/>
          <p:nvPr/>
        </p:nvSpPr>
        <p:spPr>
          <a:xfrm>
            <a:off x="1078920" y="4325040"/>
            <a:ext cx="74970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Models that know how to refuse: "I do not have enough information" is preferable to confabulation. Semantic uncertainty as a signal.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411480" y="274320"/>
            <a:ext cx="63000" cy="59328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97" name="Text 1"/>
          <p:cNvSpPr/>
          <p:nvPr/>
        </p:nvSpPr>
        <p:spPr>
          <a:xfrm>
            <a:off x="548640" y="228600"/>
            <a:ext cx="8045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Conclusions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2"/>
          <p:cNvSpPr/>
          <p:nvPr/>
        </p:nvSpPr>
        <p:spPr>
          <a:xfrm>
            <a:off x="0" y="4983480"/>
            <a:ext cx="9142920" cy="1591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365760" y="4983480"/>
            <a:ext cx="841140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Controlling Hallucinations in LLMs · UNICAMP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411480" y="117036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01" name="Shape 5"/>
          <p:cNvSpPr/>
          <p:nvPr/>
        </p:nvSpPr>
        <p:spPr>
          <a:xfrm>
            <a:off x="411480" y="1170360"/>
            <a:ext cx="63000" cy="65736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02" name="Image 0" descr="preencoded.png"/>
          <p:cNvPicPr/>
          <p:nvPr/>
        </p:nvPicPr>
        <p:blipFill>
          <a:blip r:embed="rId1"/>
          <a:stretch/>
        </p:blipFill>
        <p:spPr>
          <a:xfrm>
            <a:off x="594360" y="133488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503" name="Text 6"/>
          <p:cNvSpPr/>
          <p:nvPr/>
        </p:nvSpPr>
        <p:spPr>
          <a:xfrm>
            <a:off x="1051560" y="128016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1. A mature field: from “cataloging errors” to formal taxonomies + systematic strategies. 300+ mitigation studies in 2025.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7"/>
          <p:cNvSpPr/>
          <p:nvPr/>
        </p:nvSpPr>
        <p:spPr>
          <a:xfrm>
            <a:off x="411480" y="192024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05" name="Shape 8"/>
          <p:cNvSpPr/>
          <p:nvPr/>
        </p:nvSpPr>
        <p:spPr>
          <a:xfrm>
            <a:off x="411480" y="1920240"/>
            <a:ext cx="63000" cy="657360"/>
          </a:xfrm>
          <a:prstGeom prst="rect">
            <a:avLst/>
          </a:prstGeom>
          <a:solidFill>
            <a:srgbClr val="f0a500"/>
          </a:solidFill>
          <a:ln w="126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06" name="Image 1" descr="preencoded.png"/>
          <p:cNvPicPr/>
          <p:nvPr/>
        </p:nvPicPr>
        <p:blipFill>
          <a:blip r:embed="rId2"/>
          <a:stretch/>
        </p:blipFill>
        <p:spPr>
          <a:xfrm>
            <a:off x="594360" y="208476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507" name="Text 9"/>
          <p:cNvSpPr/>
          <p:nvPr/>
        </p:nvSpPr>
        <p:spPr>
          <a:xfrm>
            <a:off x="1051560" y="203004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2. The problem is not solved: each approach has limitations. No isolated strategy is sufficient for high-risk applications.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411480" y="267012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09" name="Shape 11"/>
          <p:cNvSpPr/>
          <p:nvPr/>
        </p:nvSpPr>
        <p:spPr>
          <a:xfrm>
            <a:off x="411480" y="2670120"/>
            <a:ext cx="63000" cy="657360"/>
          </a:xfrm>
          <a:prstGeom prst="rect">
            <a:avLst/>
          </a:prstGeom>
          <a:solidFill>
            <a:srgbClr val="3a6b9a"/>
          </a:solidFill>
          <a:ln w="12600">
            <a:solidFill>
              <a:srgbClr val="3a6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10" name="Image 2" descr="preencoded.png"/>
          <p:cNvPicPr/>
          <p:nvPr/>
        </p:nvPicPr>
        <p:blipFill>
          <a:blip r:embed="rId3"/>
          <a:stretch/>
        </p:blipFill>
        <p:spPr>
          <a:xfrm>
            <a:off x="594360" y="283464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511" name="Text 12"/>
          <p:cNvSpPr/>
          <p:nvPr/>
        </p:nvSpPr>
        <p:spPr>
          <a:xfrm>
            <a:off x="1051560" y="277992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3. Central tension: RLHF improves alignment but may create high-confidence hallucinations — the worst-case scenario for detection.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13"/>
          <p:cNvSpPr/>
          <p:nvPr/>
        </p:nvSpPr>
        <p:spPr>
          <a:xfrm>
            <a:off x="411480" y="342000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411480" y="3420000"/>
            <a:ext cx="63000" cy="657360"/>
          </a:xfrm>
          <a:prstGeom prst="rect">
            <a:avLst/>
          </a:prstGeom>
          <a:solidFill>
            <a:srgbClr val="e06030"/>
          </a:solidFill>
          <a:ln w="12600">
            <a:solidFill>
              <a:srgbClr val="e06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14" name="Image 3" descr="preencoded.png"/>
          <p:cNvPicPr/>
          <p:nvPr/>
        </p:nvPicPr>
        <p:blipFill>
          <a:blip r:embed="rId4"/>
          <a:stretch/>
        </p:blipFill>
        <p:spPr>
          <a:xfrm>
            <a:off x="594360" y="358452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515" name="Text 15"/>
          <p:cNvSpPr/>
          <p:nvPr/>
        </p:nvSpPr>
        <p:spPr>
          <a:xfrm>
            <a:off x="1051560" y="352944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4. Evaluation is a problem in itself: benchmarks become obsolete, definitions remain inconsistent. Dynamic benchmarks are the emerging answer.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16"/>
          <p:cNvSpPr/>
          <p:nvPr/>
        </p:nvSpPr>
        <p:spPr>
          <a:xfrm>
            <a:off x="411480" y="4169520"/>
            <a:ext cx="8319960" cy="65736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17" name="Shape 17"/>
          <p:cNvSpPr/>
          <p:nvPr/>
        </p:nvSpPr>
        <p:spPr>
          <a:xfrm>
            <a:off x="411480" y="4169520"/>
            <a:ext cx="63000" cy="657360"/>
          </a:xfrm>
          <a:prstGeom prst="rect">
            <a:avLst/>
          </a:prstGeom>
          <a:solidFill>
            <a:srgbClr val="534ab7"/>
          </a:solidFill>
          <a:ln w="12600">
            <a:solidFill>
              <a:srgbClr val="534ab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pic>
        <p:nvPicPr>
          <p:cNvPr id="518" name="Image 4" descr="preencoded.png"/>
          <p:cNvPicPr/>
          <p:nvPr/>
        </p:nvPicPr>
        <p:blipFill>
          <a:blip r:embed="rId5"/>
          <a:stretch/>
        </p:blipFill>
        <p:spPr>
          <a:xfrm>
            <a:off x="594360" y="4334400"/>
            <a:ext cx="318960" cy="318960"/>
          </a:xfrm>
          <a:prstGeom prst="rect">
            <a:avLst/>
          </a:prstGeom>
          <a:ln w="0">
            <a:noFill/>
          </a:ln>
        </p:spPr>
      </p:pic>
      <p:sp>
        <p:nvSpPr>
          <p:cNvPr id="519" name="Text 18"/>
          <p:cNvSpPr/>
          <p:nvPr/>
        </p:nvSpPr>
        <p:spPr>
          <a:xfrm>
            <a:off x="1051560" y="427932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5. Outlook: agentic systems + reflective RAG + confidence calibration are the most promising directions for 2025–2026.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0"/>
          <p:cNvSpPr/>
          <p:nvPr/>
        </p:nvSpPr>
        <p:spPr>
          <a:xfrm>
            <a:off x="5029200" y="0"/>
            <a:ext cx="4113720" cy="5142600"/>
          </a:xfrm>
          <a:prstGeom prst="rect">
            <a:avLst/>
          </a:prstGeom>
          <a:solidFill>
            <a:srgbClr val="0d1b2a"/>
          </a:solidFill>
          <a:ln w="126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21" name="Text 1"/>
          <p:cNvSpPr/>
          <p:nvPr/>
        </p:nvSpPr>
        <p:spPr>
          <a:xfrm>
            <a:off x="457200" y="365760"/>
            <a:ext cx="43880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References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2"/>
          <p:cNvSpPr/>
          <p:nvPr/>
        </p:nvSpPr>
        <p:spPr>
          <a:xfrm>
            <a:off x="457200" y="914400"/>
            <a:ext cx="4388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Main survey sources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3"/>
          <p:cNvSpPr/>
          <p:nvPr/>
        </p:nvSpPr>
        <p:spPr>
          <a:xfrm>
            <a:off x="5166360" y="45720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24" name="Shape 4"/>
          <p:cNvSpPr/>
          <p:nvPr/>
        </p:nvSpPr>
        <p:spPr>
          <a:xfrm>
            <a:off x="5166360" y="45720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25" name="Text 5"/>
          <p:cNvSpPr/>
          <p:nvPr/>
        </p:nvSpPr>
        <p:spPr>
          <a:xfrm>
            <a:off x="5321880" y="47556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DejaVu Sans"/>
              </a:rPr>
              <a:t>ALANSARI, A.; LUQMAN, H. Large Language Models Hallucination: A Comprehensive Survey. arXiv:2510.06265, 2025.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6"/>
          <p:cNvSpPr/>
          <p:nvPr/>
        </p:nvSpPr>
        <p:spPr>
          <a:xfrm>
            <a:off x="5166360" y="121608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27" name="Shape 7"/>
          <p:cNvSpPr/>
          <p:nvPr/>
        </p:nvSpPr>
        <p:spPr>
          <a:xfrm>
            <a:off x="5166360" y="121608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28" name="Text 8"/>
          <p:cNvSpPr/>
          <p:nvPr/>
        </p:nvSpPr>
        <p:spPr>
          <a:xfrm>
            <a:off x="5321880" y="123444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HUANG, L. et al. A Survey on Hallucination in LLMs: Principles, Taxonomy, Challenges. ACM Transactions on Information Systems, 2024.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9"/>
          <p:cNvSpPr/>
          <p:nvPr/>
        </p:nvSpPr>
        <p:spPr>
          <a:xfrm>
            <a:off x="5166360" y="197496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0" name="Shape 10"/>
          <p:cNvSpPr/>
          <p:nvPr/>
        </p:nvSpPr>
        <p:spPr>
          <a:xfrm>
            <a:off x="5166360" y="197496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1" name="Text 11"/>
          <p:cNvSpPr/>
          <p:nvPr/>
        </p:nvSpPr>
        <p:spPr>
          <a:xfrm>
            <a:off x="5321880" y="199332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MDPI survey: From Illusion to Insight: A Taxonomic Survey of Hallucination Mitigation. AI Systems, 6(10), 2025.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12"/>
          <p:cNvSpPr/>
          <p:nvPr/>
        </p:nvSpPr>
        <p:spPr>
          <a:xfrm>
            <a:off x="5166360" y="273420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3" name="Shape 13"/>
          <p:cNvSpPr/>
          <p:nvPr/>
        </p:nvSpPr>
        <p:spPr>
          <a:xfrm>
            <a:off x="5166360" y="273420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4" name="Text 14"/>
          <p:cNvSpPr/>
          <p:nvPr/>
        </p:nvSpPr>
        <p:spPr>
          <a:xfrm>
            <a:off x="5321880" y="275220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RAG survey: Mitigating Hallucination in LLMs: RAG, Reasoning and Agentic Systems. arXiv:2510.24476, 2025.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5"/>
          <p:cNvSpPr/>
          <p:nvPr/>
        </p:nvSpPr>
        <p:spPr>
          <a:xfrm>
            <a:off x="5166360" y="349308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6" name="Shape 16"/>
          <p:cNvSpPr/>
          <p:nvPr/>
        </p:nvSpPr>
        <p:spPr>
          <a:xfrm>
            <a:off x="5166360" y="349308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7" name="Text 17"/>
          <p:cNvSpPr/>
          <p:nvPr/>
        </p:nvSpPr>
        <p:spPr>
          <a:xfrm>
            <a:off x="5321880" y="351144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ANH-HOANG et al. Survey and Analysis of Hallucinations: Attribution to Prompting or Model Behavior. Frontiers in AI, 2025.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8"/>
          <p:cNvSpPr/>
          <p:nvPr/>
        </p:nvSpPr>
        <p:spPr>
          <a:xfrm>
            <a:off x="5166360" y="4251960"/>
            <a:ext cx="3747960" cy="684720"/>
          </a:xfrm>
          <a:prstGeom prst="rect">
            <a:avLst/>
          </a:prstGeom>
          <a:solidFill>
            <a:srgbClr val="1e3a5f"/>
          </a:solidFill>
          <a:ln w="126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39" name="Shape 19"/>
          <p:cNvSpPr/>
          <p:nvPr/>
        </p:nvSpPr>
        <p:spPr>
          <a:xfrm>
            <a:off x="5166360" y="4251960"/>
            <a:ext cx="63000" cy="684720"/>
          </a:xfrm>
          <a:prstGeom prst="rect">
            <a:avLst/>
          </a:prstGeom>
          <a:solidFill>
            <a:srgbClr val="1d9e75"/>
          </a:solidFill>
          <a:ln w="126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t">
            <a:noAutofit/>
          </a:bodyPr>
          <a:p>
            <a:pPr>
              <a:lnSpc>
                <a:spcPct val="92000"/>
              </a:lnSpc>
              <a:spcAft>
                <a:spcPts val="51"/>
              </a:spcAft>
            </a:pPr>
            <a:endParaRPr b="0" lang="pt-BR" sz="1800" spc="-1" strike="noStrike">
              <a:solidFill>
                <a:schemeClr val="dk1"/>
              </a:solidFill>
              <a:latin typeface="Calibri"/>
              <a:ea typeface="DejaVu Sans"/>
            </a:endParaRPr>
          </a:p>
        </p:txBody>
      </p:sp>
      <p:sp>
        <p:nvSpPr>
          <p:cNvPr id="540" name="Text 20"/>
          <p:cNvSpPr/>
          <p:nvPr/>
        </p:nvSpPr>
        <p:spPr>
          <a:xfrm>
            <a:off x="5321880" y="4270320"/>
            <a:ext cx="34736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45000" bIns="45000" anchor="ctr">
            <a:noAutofit/>
          </a:bodyPr>
          <a:p>
            <a:pPr defTabSz="914400">
              <a:lnSpc>
                <a:spcPct val="92000"/>
              </a:lnSpc>
              <a:spcAft>
                <a:spcPts val="51"/>
              </a:spcAft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Arial"/>
                <a:ea typeface="DejaVu Sans"/>
              </a:rPr>
              <a:t>BANG, Y. et al. HalluLens: LLM Hallucination Benchmark. arXiv:2504.17550, 2025.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Application>LibreOffice/24.2.5.2$Windows_X86_64 LibreOffice_project/bffef4ea93e59bebbeaf7f431bb02b1a39ee8a59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2026-04-12T18:57:25Z</dcterms:created>
  <dc:creator>UNICAMP</dc:creator>
  <dc:description/>
  <dc:language>en-US</dc:language>
  <cp:lastModifiedBy/>
  <dcterms:modified xsi:type="dcterms:W3CDTF">2026-04-14T12:03:00Z</dcterms:modified>
  <cp:revision>9</cp:revision>
  <dc:subject>PptxGenJS Presentation</dc:subject>
  <dc:title>Controle de Alucinações em LLMs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Apresentação na tela (16:9)</vt:lpwstr>
  </property>
  <property fmtid="{D5CDD505-2E9C-101B-9397-08002B2CF9AE}" pid="4" name="Slides">
    <vt:r8>21</vt:r8>
  </property>
</Properties>
</file>