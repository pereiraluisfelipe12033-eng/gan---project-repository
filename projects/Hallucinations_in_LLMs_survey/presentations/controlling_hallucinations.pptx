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F16A4B3-5761-48F2-818C-822593F1A5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4288EA-FE54-447A-9A8F-2283DA27F0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FC9B7E-4DCE-46C0-A55A-17F27CABA7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54DA8D-6E49-44DD-A070-38E7B975C3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995186-FCA8-49AF-8A6B-A0E8C939D6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E9F63C-9E6B-4DB9-A704-4AC4FCB6AA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005F7B-9DD4-4403-8E17-B385C7254E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6FD2F1-2EB6-4E6F-A003-81717F26F8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ADA18E-B5C0-4AE4-AF01-55110FCAE6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585FCD-C1F0-48EC-B1C8-1B3F8BE46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F3BD5A-7B24-4913-8B41-EEF8ACFFEA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FE6614-EDB3-4605-BE73-75D3F67050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298103-3AF2-4943-8432-CAA5EF4BE7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201276-B059-4E17-B2F1-B631FC0821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786262-72A3-41E4-BE8D-DF75BAC308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C1C7CA-1F04-487E-9B58-C3CECFC44D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D0B529-3DE6-42DD-9A80-091594A69B6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3246120"/>
            <a:ext cx="201024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3264480"/>
            <a:ext cx="2010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Hot topic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02920" y="3675960"/>
            <a:ext cx="201024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3694320"/>
            <a:ext cx="2010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NLP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02920" y="4105800"/>
            <a:ext cx="201024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02920" y="4123800"/>
            <a:ext cx="2010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Reliability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880360" y="1051560"/>
            <a:ext cx="539352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Controlling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Hallucinations in LLMs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880360" y="2395800"/>
            <a:ext cx="5119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6b9a"/>
                </a:solidFill>
                <a:latin typeface="Aptos"/>
              </a:rPr>
              <a:t>A concise, evidence-based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880360" y="2816280"/>
            <a:ext cx="51192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3a6b9a"/>
                </a:solidFill>
                <a:latin typeface="Aptos"/>
              </a:rPr>
              <a:t>IA 376 – Generative Artificial Intelligence · UNICAMP 2026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880360" y="3218760"/>
            <a:ext cx="53020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  <a:ea typeface="Microsoft YaHei"/>
              </a:rPr>
              <a:t>Charles Cavalcante Alcarde – </a:t>
            </a: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RA 800181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Luis Felipe da Silva Carlos Pereira – RA 272919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  <a:ea typeface="Microsoft YaHei"/>
              </a:rPr>
              <a:t>Pedro Henrique Guerra – </a:t>
            </a: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RA 298988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Why hallucination matters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Reliable deployment fails when fluent output is not trustworthy.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76000" y="1024200"/>
            <a:ext cx="7999560" cy="63864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31520" y="1188720"/>
            <a:ext cx="7679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Aptos"/>
              </a:rPr>
              <a:t>Hallucination is output that sounds plausible and coherent, but is factually wrong, unsupported, or logically inconsistent.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554760" y="1828800"/>
            <a:ext cx="2036160" cy="1944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1993320"/>
            <a:ext cx="1644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High-stakes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applications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00360" y="2630880"/>
            <a:ext cx="12787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Healthcare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Law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Science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Education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2761560" y="1828800"/>
            <a:ext cx="2913120" cy="19375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2999160" y="1974960"/>
            <a:ext cx="22845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Why it persists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2907720" y="2267640"/>
            <a:ext cx="2513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next-token prediction optimizes plausibility, not truth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training data are noisy, incomplete, and time-bounded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alignment can increase confidence without guaranteeing accuracy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747040" y="1828800"/>
            <a:ext cx="2837880" cy="1923120"/>
          </a:xfrm>
          <a:prstGeom prst="roundRect">
            <a:avLst>
              <a:gd name="adj" fmla="val 6154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016680" y="1974960"/>
            <a:ext cx="22845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Working example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5998320" y="2421360"/>
            <a:ext cx="2330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Prompt: “Who wrote Pride and Prejudice?”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Hallucinated answer: “Charles Dickens.”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166440" y="3116520"/>
            <a:ext cx="20102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6e56"/>
                </a:solidFill>
                <a:latin typeface="Aptos"/>
              </a:rPr>
              <a:t>Correct answer: Jane Austen.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Core taxonomy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Two distinctions are especially useful for understanding what failed.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685800" y="105156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6b9a"/>
                </a:solidFill>
                <a:latin typeface="Aptos"/>
              </a:rPr>
              <a:t>Relation to source or context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76000" y="1280160"/>
            <a:ext cx="3747600" cy="1233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777240" y="1362600"/>
            <a:ext cx="1233000" cy="2545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362600"/>
            <a:ext cx="1233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Intrinsic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804600" y="190404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The output contradicts the provided source or input context. Typical in summarization, grounded QA (question and answer), or translation.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576000" y="2697480"/>
            <a:ext cx="3747600" cy="1233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777240" y="2834640"/>
            <a:ext cx="123300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77240" y="2853000"/>
            <a:ext cx="1233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Extrinsic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804600" y="329292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The output adds unsupported material not verifiable from the given context; it may even be true, but is ungrounded.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4572000" y="105156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6b9a"/>
                </a:solidFill>
                <a:latin typeface="Aptos"/>
              </a:rPr>
              <a:t>Relation to truth and reasoning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4462200" y="1280160"/>
            <a:ext cx="3747600" cy="1233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3"/>
          <p:cNvSpPr/>
          <p:nvPr/>
        </p:nvSpPr>
        <p:spPr>
          <a:xfrm>
            <a:off x="4663440" y="1362600"/>
            <a:ext cx="105012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4663440" y="1362600"/>
            <a:ext cx="10501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4700160" y="1792080"/>
            <a:ext cx="319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Wrong dates, entities, citations, causal relations, or other claims about the world.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4462200" y="2697480"/>
            <a:ext cx="3747600" cy="1233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4663440" y="2834640"/>
            <a:ext cx="164448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4663440" y="2853000"/>
            <a:ext cx="1644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Logical / faithfulness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4700160" y="31820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Reasoning breaks, self-contradiction, or failure to follow the source and instruction faithfully.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Hallucination is not the same as factuality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This distinction improves benchmark choice and mitigation strategy.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685800" y="1234440"/>
            <a:ext cx="3519000" cy="2010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1691640" y="1417320"/>
            <a:ext cx="150732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1691640" y="1435680"/>
            <a:ext cx="15073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Hallucination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960120" y="1828800"/>
            <a:ext cx="2970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defined against the model’s available source: input context or training-accessible knowledge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often mitigated by abstention, grounding, refusal when uncertain, and better context use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best discussed with intrinsic / extrinsic language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4572000" y="1234440"/>
            <a:ext cx="3519000" cy="2010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623560" y="1417320"/>
            <a:ext cx="141588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5623560" y="1435680"/>
            <a:ext cx="1415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Factuality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846320" y="1828800"/>
            <a:ext cx="2970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defined against external truth or trusted verification sources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often improved with knowledge injection, retrieval, or updating stale information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benchmarks like TruthfulQA are better read as factuality tests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1188720" y="3520440"/>
            <a:ext cx="6673680" cy="565560"/>
          </a:xfrm>
          <a:prstGeom prst="roundRect">
            <a:avLst>
              <a:gd name="adj" fmla="val 12903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1417320" y="3703320"/>
            <a:ext cx="6216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Takeaway: a model can be factually wrong without fitting a narrow hallucination definition, and different failures need different interventions.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Why hallucinations happen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literature converges on interacting data, model, and usage-level causes.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576000" y="1417320"/>
            <a:ext cx="2284560" cy="22388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1078920" y="1600200"/>
            <a:ext cx="127872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78920" y="16185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777240" y="2011680"/>
            <a:ext cx="1882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noisy or contradictory corpora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outdated information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long-tail facts are underrepresented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3127320" y="1417320"/>
            <a:ext cx="2284560" cy="22388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3630240" y="1600200"/>
            <a:ext cx="127872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630240" y="16185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Model / training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3328560" y="2011680"/>
            <a:ext cx="1882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next-token objective favors plausibility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decoding randomness accumulates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alignment can reward confidence over truth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5678280" y="1417320"/>
            <a:ext cx="2284560" cy="22388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6181200" y="1600200"/>
            <a:ext cx="127872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6181200" y="16185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Usage / inference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5879520" y="2011680"/>
            <a:ext cx="1882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ambiguous prompts invite speculation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weak retrieval degrades grounding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long contexts can dilute attention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868680" y="3822120"/>
            <a:ext cx="7405200" cy="401040"/>
          </a:xfrm>
          <a:prstGeom prst="roundRect">
            <a:avLst>
              <a:gd name="adj" fmla="val 18182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1051560" y="3940920"/>
            <a:ext cx="70394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Formal intuition: hallucination emerges when the model assigns higher probability to an incorrect continuation than to a grounded one.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The RLHF (Reinforcement Learning from Human Feedback) paradox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76000" y="77940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Alignment improves helpfulness, but can also intensify confident error.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731520" y="1234440"/>
            <a:ext cx="3381840" cy="22388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1600200" y="1444680"/>
            <a:ext cx="164448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1600200" y="1463040"/>
            <a:ext cx="1644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What RLHF improves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87480" y="1847160"/>
            <a:ext cx="27874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instruction following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harmlessness and tone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preference alignment and usability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572000" y="1234440"/>
            <a:ext cx="3381840" cy="22388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5577840" y="1444680"/>
            <a:ext cx="137016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577840" y="146304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Alignment tax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4827960" y="1847160"/>
            <a:ext cx="27874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coherence may be rewarded over correctness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models can become sycophantic or over-compliant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high-confidence hallucinations are hardest to detect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1143000" y="3675960"/>
            <a:ext cx="6582240" cy="510480"/>
          </a:xfrm>
          <a:prstGeom prst="roundRect">
            <a:avLst>
              <a:gd name="adj" fmla="val 14286"/>
            </a:avLst>
          </a:prstGeom>
          <a:solidFill>
            <a:srgbClr val="f6fbf9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1325880" y="3822120"/>
            <a:ext cx="6216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Analytical takeaway: uncertainty-based detectors are weakest exactly where hallucinations become most dangerous—when the model sounds certain.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How hallucination is detected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Detection methods differ by what reference they trust and what signal they read.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822960" y="1188720"/>
            <a:ext cx="7359480" cy="50148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1005840" y="1280160"/>
            <a:ext cx="155304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005840" y="1298520"/>
            <a:ext cx="1553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Retrieval-based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2697480" y="1334880"/>
            <a:ext cx="51649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check claims against documents, databases, or knowledge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822960" y="1810440"/>
            <a:ext cx="7359480" cy="50148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1005840" y="1901880"/>
            <a:ext cx="155304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005840" y="1920240"/>
            <a:ext cx="1553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Uncertainty-based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2697480" y="1956960"/>
            <a:ext cx="51649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measure entropy, calibration, hesitation, or semantic uncertainty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822960" y="2432160"/>
            <a:ext cx="7359480" cy="50148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1005840" y="2523600"/>
            <a:ext cx="155304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005840" y="2541960"/>
            <a:ext cx="1553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Embedding / state-based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2697480" y="2578680"/>
            <a:ext cx="51649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detect shifts in hidden states, attention, or internal representations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822960" y="3054240"/>
            <a:ext cx="7359480" cy="50148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1005840" y="3145680"/>
            <a:ext cx="155304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005840" y="3163680"/>
            <a:ext cx="1553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Learning-based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2697480" y="3200400"/>
            <a:ext cx="51649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train classifiers on annotated hallucination examples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822960" y="3675960"/>
            <a:ext cx="7359480" cy="50148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1005840" y="3767400"/>
            <a:ext cx="155304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1005840" y="3785760"/>
            <a:ext cx="1553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Self-consistency / verification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2697480" y="3822120"/>
            <a:ext cx="51649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compare multiple generations or ask models to verify claims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Evaluation and benchmarks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field has learned that benchmark choice can distort conclusions.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658440" y="1234440"/>
            <a:ext cx="1827360" cy="223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1051560" y="1444680"/>
            <a:ext cx="105012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051560" y="1463040"/>
            <a:ext cx="1050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TruthfulQA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868680" y="1847160"/>
            <a:ext cx="141588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Useful for factuality, but not a pure hallucination benchmark; contamination and saturation are concerns.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2697480" y="1234440"/>
            <a:ext cx="1827360" cy="223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3090600" y="1444680"/>
            <a:ext cx="105012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3090600" y="1463040"/>
            <a:ext cx="1050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HalluLens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2880360" y="1847160"/>
            <a:ext cx="14616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Strong conceptual contribution: separates hallucination from factuality and uses dynamic generation to resist leakage.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4736520" y="1234440"/>
            <a:ext cx="1598760" cy="2238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4965120" y="1444680"/>
            <a:ext cx="109584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4965120" y="1463040"/>
            <a:ext cx="10958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FaithBench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4919400" y="1920240"/>
            <a:ext cx="1233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High-quality human annotation for summary hallucinations and faithfulness analysis.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6546960" y="1234440"/>
            <a:ext cx="1827360" cy="223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6711840" y="1444680"/>
            <a:ext cx="150732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6711840" y="1463040"/>
            <a:ext cx="15073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FACTSCORE / RAGAS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6748200" y="1847160"/>
            <a:ext cx="141588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Claim-level decomposition supports scalable evaluation for long answers and RAG pipelines.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1097280" y="3675960"/>
            <a:ext cx="6719400" cy="510480"/>
          </a:xfrm>
          <a:prstGeom prst="roundRect">
            <a:avLst>
              <a:gd name="adj" fmla="val 14286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1280160" y="382212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Bottom line: static benchmarks age quickly. Dynamic and claim-based evaluation better match how modern LLMs fail.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2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Mitigation landscape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Recent surveys organize the field into six recurring strategy families.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40080" y="132588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850320" y="1463040"/>
            <a:ext cx="173592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850320" y="1481400"/>
            <a:ext cx="1735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Training &amp;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804600" y="192348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SFT (Supervised Fine-Tuning), RLHF, contrastive learning, knowledge editing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>
            <a:off x="3154680" y="132588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364920" y="1463040"/>
            <a:ext cx="1735920" cy="21744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3364920" y="1463040"/>
            <a:ext cx="1735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Architectural changes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3319200" y="188784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RAG (Retrieval-Augmented Generation), memory, attention or decoding changes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5669280" y="132588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5879520" y="1463040"/>
            <a:ext cx="173592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5879520" y="1481400"/>
            <a:ext cx="1735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Prompt / input optimization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833800" y="1837800"/>
            <a:ext cx="18273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CoT (Chain-of-Thought), self-consistency, few-shot, decomposition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640080" y="274320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850320" y="2880360"/>
            <a:ext cx="173592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850320" y="2898720"/>
            <a:ext cx="1735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Post-generation control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804600" y="325512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fact-checking, claim verification, reranking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3154680" y="274320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3364920" y="2880360"/>
            <a:ext cx="173592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3364920" y="2898720"/>
            <a:ext cx="1735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Interpretability &amp; diagnosis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3319200" y="325512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uncertainty, hidden states, probing, calibration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5669280" y="2743200"/>
            <a:ext cx="2147400" cy="1050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5879520" y="2880360"/>
            <a:ext cx="173592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5879520" y="2898720"/>
            <a:ext cx="1735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Agents &amp; orchestration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5"/>
          <p:cNvSpPr/>
          <p:nvPr/>
        </p:nvSpPr>
        <p:spPr>
          <a:xfrm>
            <a:off x="5833800" y="325512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RAG + reasoning + planning + self-reflection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RAG (Retrieval-Augmented Generation): best for knowledge-based failures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76000" y="8582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Retrieval is powerful because it expands knowledge at inference time without retraining.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594360" y="1554480"/>
            <a:ext cx="109584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667440" y="1783080"/>
            <a:ext cx="9496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User prompt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737360" y="1774080"/>
            <a:ext cx="2728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057400" y="1554480"/>
            <a:ext cx="109584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2130480" y="1783080"/>
            <a:ext cx="9496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Retriever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3200400" y="1774080"/>
            <a:ext cx="2728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566160" y="1554480"/>
            <a:ext cx="109584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3639240" y="1783080"/>
            <a:ext cx="9496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Retrieved docs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4709160" y="1774080"/>
            <a:ext cx="2728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074920" y="1554480"/>
            <a:ext cx="109584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5148000" y="1783080"/>
            <a:ext cx="9496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LLM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6217920" y="1774080"/>
            <a:ext cx="2728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6583680" y="1554480"/>
            <a:ext cx="109584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6656760" y="1783080"/>
            <a:ext cx="9496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Grounded answer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740520" y="2743200"/>
            <a:ext cx="3528360" cy="1458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1828800" y="2907720"/>
            <a:ext cx="137016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1828800" y="292608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Advantages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960120" y="3246120"/>
            <a:ext cx="30618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updates knowledge without full retraining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grounds answers in inspectable sources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works especially well for stale or domain-specific knowledge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4681800" y="2743200"/>
            <a:ext cx="3519000" cy="1233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5806440" y="2907720"/>
            <a:ext cx="127872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5806440" y="292608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Limitations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4892040" y="3246120"/>
            <a:ext cx="30618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weak retrieval yields weak grounding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the model can still contradict retrieved evidence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long pipelines add latency and cost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Prompting and reasoning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Prompt optimization is cheap and flexible, but not a universal fix.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658440" y="1463040"/>
            <a:ext cx="2467440" cy="2010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978480" y="1664280"/>
            <a:ext cx="182736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978480" y="168264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Chain-of-Thought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859680" y="2103120"/>
            <a:ext cx="205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Encourages step-by-step reasoning and reduces many prompt-sensitive failures.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3401640" y="1463040"/>
            <a:ext cx="2467440" cy="2010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3721680" y="1664280"/>
            <a:ext cx="182736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3721680" y="168264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Self-consistency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3602880" y="2103120"/>
            <a:ext cx="205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Sample multiple reasoning paths and aggregate; disagreement is a useful confidence signal.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6144840" y="1463040"/>
            <a:ext cx="2467440" cy="2010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6464880" y="1664280"/>
            <a:ext cx="182736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6464880" y="168264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Structured prompting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6346080" y="2103120"/>
            <a:ext cx="205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Explicit task framing, examples, and constraints reduce open-ended invention.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1097280" y="3794760"/>
            <a:ext cx="6627960" cy="45576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1280160" y="3940920"/>
            <a:ext cx="62622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Best reading of the evidence: prompting can suppress hallucinations when failure is prompt-sensitive, but it cannot repair model-intrinsic limits by itself.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Training, alignment, and interpretability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Longer-term progress depends on improving the model itself—and understanding it better.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640080" y="1325880"/>
            <a:ext cx="3656160" cy="24217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1691640" y="1554480"/>
            <a:ext cx="159876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1691640" y="1572840"/>
            <a:ext cx="15987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Training &amp; alignment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68680" y="1920240"/>
            <a:ext cx="31532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supervised fine-tuning, preference optimization, and contrastive learning can improve factual behavior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but fine-tuning can also inject new hallucinations or overconfidence if targets are weak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hybrid pipelines usually outperform isolated training interventions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6"/>
          <p:cNvSpPr/>
          <p:nvPr/>
        </p:nvSpPr>
        <p:spPr>
          <a:xfrm>
            <a:off x="4663440" y="1325880"/>
            <a:ext cx="3656160" cy="24217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5833800" y="1554480"/>
            <a:ext cx="132444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5833800" y="157284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Interpretability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4892040" y="1920240"/>
            <a:ext cx="315324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hidden-state methods show hallucination has detectable internal signatures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recent neuron-level work suggests sparse subsets can predict and influence hallucination-related behavior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this opens a path from diagnosis toward targeted intervention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Agentic systems: where the field is heading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emerging pattern is to combine retrieval, reasoning, planning, and verification.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731520" y="1645920"/>
            <a:ext cx="114156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850320" y="1828800"/>
            <a:ext cx="89460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850320" y="1847160"/>
            <a:ext cx="894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901880" y="1856160"/>
            <a:ext cx="2361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2304360" y="1645920"/>
            <a:ext cx="114156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2423160" y="1828800"/>
            <a:ext cx="89460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2423160" y="1847160"/>
            <a:ext cx="894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Retrieve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3474720" y="1856160"/>
            <a:ext cx="2361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3877200" y="1645920"/>
            <a:ext cx="114156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3996000" y="1828800"/>
            <a:ext cx="89460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3996000" y="1847160"/>
            <a:ext cx="894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Reason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5047560" y="1856160"/>
            <a:ext cx="2361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5449680" y="1645920"/>
            <a:ext cx="114156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5568840" y="1828800"/>
            <a:ext cx="89460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5568840" y="1847160"/>
            <a:ext cx="894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Verify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6620400" y="1856160"/>
            <a:ext cx="2361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7022520" y="1645920"/>
            <a:ext cx="1141560" cy="657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7141320" y="1828800"/>
            <a:ext cx="89460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7141320" y="1847160"/>
            <a:ext cx="894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Revise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1"/>
          <p:cNvSpPr/>
          <p:nvPr/>
        </p:nvSpPr>
        <p:spPr>
          <a:xfrm>
            <a:off x="868680" y="2743200"/>
            <a:ext cx="7313760" cy="109584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3566160" y="2907720"/>
            <a:ext cx="19188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Why this matters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1115640" y="3218760"/>
            <a:ext cx="68108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</a:rPr>
              <a:t>Agentic pipelines are attractive because they address both knowledge-based and logic-based errors. Instead of hoping a single generation is correct, they turn answering into an iterative process of search, decomposition, checking, and repair.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Open challenges and research directions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main gaps are no longer only empirical—they are also conceptual and evaluative.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731520" y="1325880"/>
            <a:ext cx="74966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914400" y="1426320"/>
            <a:ext cx="1918800" cy="32760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914400" y="144468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Definitions still vary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2999160" y="1490400"/>
            <a:ext cx="48906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benchmark claims remain inconsistent when hallucination and factuality are mixed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731520" y="2039040"/>
            <a:ext cx="74966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7"/>
          <p:cNvSpPr/>
          <p:nvPr/>
        </p:nvSpPr>
        <p:spPr>
          <a:xfrm>
            <a:off x="914400" y="2139840"/>
            <a:ext cx="1918800" cy="32760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914400" y="215784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Aptos"/>
              </a:rPr>
              <a:t>Multimodal and multilingual gaps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2999160" y="2203560"/>
            <a:ext cx="48906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vision-language settings and non-English languages are less studied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731520" y="2752200"/>
            <a:ext cx="74966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1"/>
          <p:cNvSpPr/>
          <p:nvPr/>
        </p:nvSpPr>
        <p:spPr>
          <a:xfrm>
            <a:off x="914400" y="2853000"/>
            <a:ext cx="1918800" cy="32760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914400" y="28713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Real-time deployment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2999160" y="2917080"/>
            <a:ext cx="48906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production systems need token-level or low-latency detection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>
            <a:off x="731520" y="3465720"/>
            <a:ext cx="7496640" cy="56556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5"/>
          <p:cNvSpPr/>
          <p:nvPr/>
        </p:nvSpPr>
        <p:spPr>
          <a:xfrm>
            <a:off x="914400" y="3566160"/>
            <a:ext cx="1918800" cy="32760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914400" y="358452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Attribution remains difficult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2999160" y="3630240"/>
            <a:ext cx="48906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combined systems make it hard to isolate what actually fixed the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1005840" y="4206240"/>
            <a:ext cx="6902280" cy="382680"/>
          </a:xfrm>
          <a:prstGeom prst="roundRect">
            <a:avLst>
              <a:gd name="adj" fmla="val 19048"/>
            </a:avLst>
          </a:prstGeom>
          <a:solidFill>
            <a:srgbClr val="f6fbf9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1234440" y="4316040"/>
            <a:ext cx="64450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0d1b2a"/>
                </a:solidFill>
                <a:latin typeface="Aptos"/>
              </a:rPr>
              <a:t>Most promising direction: grounded generation + reflective reasoning + calibrated refusal when knowledge is insufficient.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576000" y="255960"/>
            <a:ext cx="7953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Conclusions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576000" y="658440"/>
            <a:ext cx="804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A condensed reading of the literature.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868680" y="1170360"/>
            <a:ext cx="7313760" cy="3244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1143000" y="1481400"/>
            <a:ext cx="199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1417320" y="146304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Hallucination is not one phenomenon; it spans source inconsistency, factual error, and reasoning failure.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1143000" y="2011680"/>
            <a:ext cx="199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1417320" y="199332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The most important conceptual improvement is to separate hallucination from factuality when evaluating models.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1143000" y="2541960"/>
            <a:ext cx="199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1417320" y="252360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Prompting helps, but stronger reliability comes from hybrid mitigation: retrieval, reasoning, verification, and alignment together.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1143000" y="3072240"/>
            <a:ext cx="199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4.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417320" y="305424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Benchmark design is now a core research problem because static sets saturate and mislead progress claims.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1143000" y="3602880"/>
            <a:ext cx="199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1417320" y="3584520"/>
            <a:ext cx="6353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For high-risk use, the best strategy is not “make the model always answer,” but “ground, verify, and abstain when needed.”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3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384120" y="4690800"/>
            <a:ext cx="758808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8229600" y="4663440"/>
            <a:ext cx="3643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25"/>
          <p:cNvSpPr/>
          <p:nvPr/>
        </p:nvSpPr>
        <p:spPr>
          <a:xfrm>
            <a:off x="5029200" y="0"/>
            <a:ext cx="4112640" cy="5141520"/>
          </a:xfrm>
          <a:prstGeom prst="rect">
            <a:avLst/>
          </a:prstGeom>
          <a:solidFill>
            <a:srgbClr val="0d1b2a"/>
          </a:solidFill>
          <a:ln w="126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3" name="Text 43"/>
          <p:cNvSpPr/>
          <p:nvPr/>
        </p:nvSpPr>
        <p:spPr>
          <a:xfrm>
            <a:off x="457200" y="365760"/>
            <a:ext cx="438696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References: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1254960" y="2734200"/>
            <a:ext cx="4386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THANK YOU!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7"/>
          <p:cNvSpPr/>
          <p:nvPr/>
        </p:nvSpPr>
        <p:spPr>
          <a:xfrm>
            <a:off x="5166360" y="45720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6" name="Shape 28"/>
          <p:cNvSpPr/>
          <p:nvPr/>
        </p:nvSpPr>
        <p:spPr>
          <a:xfrm>
            <a:off x="5166360" y="45720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7" name="Text 45"/>
          <p:cNvSpPr/>
          <p:nvPr/>
        </p:nvSpPr>
        <p:spPr>
          <a:xfrm>
            <a:off x="5321880" y="47556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ALANSARI, A.; LUQMAN, H. Large Language Models Hallucination: A Comprehensive Survey. arXiv:2510.06265, 2025.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5166360" y="121608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9" name="Shape 30"/>
          <p:cNvSpPr/>
          <p:nvPr/>
        </p:nvSpPr>
        <p:spPr>
          <a:xfrm>
            <a:off x="5166360" y="121608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0" name="Text 46"/>
          <p:cNvSpPr/>
          <p:nvPr/>
        </p:nvSpPr>
        <p:spPr>
          <a:xfrm>
            <a:off x="5321880" y="123444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HUANG, L. et al. A Survey on Hallucination in LLMs: Principles, Taxonomy, Challenges. ACM Transactions on Information Systems, 2024.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1"/>
          <p:cNvSpPr/>
          <p:nvPr/>
        </p:nvSpPr>
        <p:spPr>
          <a:xfrm>
            <a:off x="5166360" y="197496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2" name="Shape 32"/>
          <p:cNvSpPr/>
          <p:nvPr/>
        </p:nvSpPr>
        <p:spPr>
          <a:xfrm>
            <a:off x="5166360" y="197496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3" name="Text 47"/>
          <p:cNvSpPr/>
          <p:nvPr/>
        </p:nvSpPr>
        <p:spPr>
          <a:xfrm>
            <a:off x="5321880" y="199332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MDPI survey: From Illusion to Insight: A Taxonomic Survey of Hallucination Mitigation. AI Systems, 6(10),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3"/>
          <p:cNvSpPr/>
          <p:nvPr/>
        </p:nvSpPr>
        <p:spPr>
          <a:xfrm>
            <a:off x="5166360" y="273420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5" name="Shape 34"/>
          <p:cNvSpPr/>
          <p:nvPr/>
        </p:nvSpPr>
        <p:spPr>
          <a:xfrm>
            <a:off x="5166360" y="273420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6" name="Text 48"/>
          <p:cNvSpPr/>
          <p:nvPr/>
        </p:nvSpPr>
        <p:spPr>
          <a:xfrm>
            <a:off x="5321880" y="275220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RAG survey: Mitigating Hallucination in LLMs: RAG, Reasoning and Agentic Systems. arXiv:2510.24476,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5"/>
          <p:cNvSpPr/>
          <p:nvPr/>
        </p:nvSpPr>
        <p:spPr>
          <a:xfrm>
            <a:off x="5166360" y="349308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8" name="Shape 36"/>
          <p:cNvSpPr/>
          <p:nvPr/>
        </p:nvSpPr>
        <p:spPr>
          <a:xfrm>
            <a:off x="5166360" y="349308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9" name="Text 49"/>
          <p:cNvSpPr/>
          <p:nvPr/>
        </p:nvSpPr>
        <p:spPr>
          <a:xfrm>
            <a:off x="5321880" y="351144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ANH-HOANG et al. Survey and Analysis of Hallucinations: Attribution to Prompting or Model Behavior. Frontiers in AI,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7"/>
          <p:cNvSpPr/>
          <p:nvPr/>
        </p:nvSpPr>
        <p:spPr>
          <a:xfrm>
            <a:off x="5166360" y="4251960"/>
            <a:ext cx="3746880" cy="6836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1" name="Shape 38"/>
          <p:cNvSpPr/>
          <p:nvPr/>
        </p:nvSpPr>
        <p:spPr>
          <a:xfrm>
            <a:off x="5166360" y="4251960"/>
            <a:ext cx="61920" cy="683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2" name="Text 50"/>
          <p:cNvSpPr/>
          <p:nvPr/>
        </p:nvSpPr>
        <p:spPr>
          <a:xfrm>
            <a:off x="5321880" y="4270320"/>
            <a:ext cx="34725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BANG, Y. et al. HalluLens: LLM Hallucination Benchmark. arXiv:2504.17550,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LibreOffice/24.2.5.2$Windows_X86_64 LibreOffice_project/bffef4ea93e59bebbeaf7f431bb02b1a39ee8a59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2026-04-14T15:17:11Z</dcterms:created>
  <dc:creator>OpenAI</dc:creator>
  <dc:description/>
  <dc:language>en-US</dc:language>
  <cp:lastModifiedBy/>
  <dcterms:modified xsi:type="dcterms:W3CDTF">2026-04-14T17:40:02Z</dcterms:modified>
  <cp:revision>15</cp:revision>
  <dc:subject>Controlling Hallucinations in LLMs</dc:subject>
  <dc:title>Controlling Hallucinations in LLMs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